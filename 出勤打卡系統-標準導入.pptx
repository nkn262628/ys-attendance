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77" r:id="rId3"/>
    <p:sldId id="262" r:id="rId4"/>
    <p:sldId id="263" r:id="rId5"/>
    <p:sldId id="267" r:id="rId6"/>
    <p:sldId id="258" r:id="rId7"/>
    <p:sldId id="269" r:id="rId8"/>
    <p:sldId id="268" r:id="rId9"/>
    <p:sldId id="273" r:id="rId10"/>
    <p:sldId id="274" r:id="rId11"/>
    <p:sldId id="276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5B65ACE6-EF04-40EB-AC07-876432073EA3}">
          <p14:sldIdLst>
            <p14:sldId id="256"/>
          </p14:sldIdLst>
        </p14:section>
        <p14:section name="系統設計簡介" id="{806F30DD-3806-4D07-80EE-98B82E2BA9AE}">
          <p14:sldIdLst>
            <p14:sldId id="277"/>
            <p14:sldId id="262"/>
          </p14:sldIdLst>
        </p14:section>
        <p14:section name="系統建置" id="{932A2EA3-0F8F-4696-9C51-0C86AECA0358}">
          <p14:sldIdLst>
            <p14:sldId id="263"/>
            <p14:sldId id="267"/>
            <p14:sldId id="258"/>
            <p14:sldId id="269"/>
            <p14:sldId id="268"/>
            <p14:sldId id="273"/>
            <p14:sldId id="274"/>
            <p14:sldId id="276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NA NIU" initials="NN" lastIdx="1" clrIdx="0">
    <p:extLst>
      <p:ext uri="{19B8F6BF-5375-455C-9EA6-DF929625EA0E}">
        <p15:presenceInfo xmlns:p15="http://schemas.microsoft.com/office/powerpoint/2012/main" userId="17a7a107610a024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8A90"/>
    <a:srgbClr val="073040"/>
    <a:srgbClr val="FDFBF9"/>
    <a:srgbClr val="1F8F86"/>
    <a:srgbClr val="0D1B26"/>
    <a:srgbClr val="14293D"/>
    <a:srgbClr val="EEF2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85" autoAdjust="0"/>
    <p:restoredTop sz="85222" autoAdjust="0"/>
  </p:normalViewPr>
  <p:slideViewPr>
    <p:cSldViewPr snapToGrid="0">
      <p:cViewPr varScale="1">
        <p:scale>
          <a:sx n="70" d="100"/>
          <a:sy n="70" d="100"/>
        </p:scale>
        <p:origin x="606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1878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CEFD3560-A806-4F25-B4AF-CB0594D0C6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BF3404B-8B06-4698-5FC2-5170F00141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C4E8F3-BA85-4331-BC31-63F318DBB1FD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1EB9780-7044-5099-E59A-2C61097093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97F2C6C-856B-508D-5085-B38FA39A37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82B1A-4707-4563-BBBD-47B933FE9D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6694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62A12-9685-4E55-9E1C-8CCF2EE8A8D1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9945D8-B29E-4FB8-BE71-890BA2292A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4555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945D8-B29E-4FB8-BE71-890BA2292A5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8014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bg>
      <p:bgPr>
        <a:solidFill>
          <a:srgbClr val="14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3D61CA-35C1-E779-E89E-7A30526F8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982AC66-EAC1-6793-4344-5DA7748A6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F13760-8616-0C66-6237-C13A4B47B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B7D7-A615-4EBC-AC00-85E88FB77C4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79866801-2C1C-926D-8543-005713E25133}"/>
              </a:ext>
            </a:extLst>
          </p:cNvPr>
          <p:cNvSpPr/>
          <p:nvPr userDrawn="1"/>
        </p:nvSpPr>
        <p:spPr>
          <a:xfrm>
            <a:off x="868680" y="4160520"/>
            <a:ext cx="2926080" cy="0"/>
          </a:xfrm>
          <a:prstGeom prst="line">
            <a:avLst/>
          </a:prstGeom>
          <a:noFill/>
          <a:ln w="25400">
            <a:solidFill>
              <a:srgbClr val="1F8F8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2506B03-41F1-EC68-2731-FE0372EA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62445"/>
            <a:ext cx="1082040" cy="108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257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5B2098A2-B8F3-8F80-DC21-A21C5778C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A44BDDDA-0DB6-8F71-7775-22AFA9C12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47BB7D7-A615-4EBC-AC00-85E88FB77C4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D4AB64E-A91A-87E0-FC11-9F41B5A50836}"/>
              </a:ext>
            </a:extLst>
          </p:cNvPr>
          <p:cNvSpPr/>
          <p:nvPr userDrawn="1"/>
        </p:nvSpPr>
        <p:spPr>
          <a:xfrm>
            <a:off x="838200" y="6395069"/>
            <a:ext cx="3070123" cy="2876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TW" altLang="en-US" sz="10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威志雲端｜開發者建置手冊</a:t>
            </a:r>
          </a:p>
        </p:txBody>
      </p:sp>
    </p:spTree>
    <p:extLst>
      <p:ext uri="{BB962C8B-B14F-4D97-AF65-F5344CB8AC3E}">
        <p14:creationId xmlns:p14="http://schemas.microsoft.com/office/powerpoint/2010/main" val="78616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bg>
      <p:bgPr>
        <a:solidFill>
          <a:srgbClr val="FD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61F311-589C-32EB-B7FE-F0678F44E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62488C-7740-C8E6-0953-8D68ECDE6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B7D7-A615-4EBC-AC00-85E88FB77C4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34ABD77-02E2-4E31-3ED5-0010F2C43D5B}"/>
              </a:ext>
            </a:extLst>
          </p:cNvPr>
          <p:cNvSpPr/>
          <p:nvPr userDrawn="1"/>
        </p:nvSpPr>
        <p:spPr>
          <a:xfrm>
            <a:off x="838200" y="6395069"/>
            <a:ext cx="3070123" cy="2876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TW" altLang="en-US" sz="10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威志雲端｜開發者建置手冊</a:t>
            </a:r>
          </a:p>
        </p:txBody>
      </p:sp>
    </p:spTree>
    <p:extLst>
      <p:ext uri="{BB962C8B-B14F-4D97-AF65-F5344CB8AC3E}">
        <p14:creationId xmlns:p14="http://schemas.microsoft.com/office/powerpoint/2010/main" val="1568764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bg>
      <p:bgPr>
        <a:solidFill>
          <a:srgbClr val="14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D766D0B-F882-44B2-CC22-FF2ACD74E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81EEDB9-B378-8F81-AF0E-30262BB07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B7D7-A615-4EBC-AC00-85E88FB77C47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2C238401-B695-33ED-A317-43CF6DC7EF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4827" y="2080260"/>
            <a:ext cx="1082040" cy="108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294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6E9EC27-FB8B-304B-CBE7-B92E4E1EC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6C60A3-E101-2F0D-2BF1-51FE3BD792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41E5847-0AF8-2F58-AD61-24EF816A6C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BB7D7-A615-4EBC-AC00-85E88FB77C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265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1">
            <a:extLst>
              <a:ext uri="{FF2B5EF4-FFF2-40B4-BE49-F238E27FC236}">
                <a16:creationId xmlns:a16="http://schemas.microsoft.com/office/drawing/2014/main" id="{4B37DE6D-5779-2F69-1C53-6554987D2B6E}"/>
              </a:ext>
            </a:extLst>
          </p:cNvPr>
          <p:cNvSpPr/>
          <p:nvPr/>
        </p:nvSpPr>
        <p:spPr>
          <a:xfrm>
            <a:off x="822960" y="2369124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4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出勤打卡系統</a:t>
            </a:r>
            <a:endParaRPr 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06268263-6085-42FA-455A-5D3395BC0503}"/>
              </a:ext>
            </a:extLst>
          </p:cNvPr>
          <p:cNvSpPr/>
          <p:nvPr/>
        </p:nvSpPr>
        <p:spPr>
          <a:xfrm>
            <a:off x="868680" y="3429000"/>
            <a:ext cx="9098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2000" b="1" dirty="0" err="1">
                <a:solidFill>
                  <a:srgbClr val="C7DCE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開發者建置手冊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289096-7D8D-2CDE-C2A9-59E8A468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B7D7-A615-4EBC-AC00-85E88FB77C47}" type="slidenum">
              <a:rPr lang="zh-TW" altLang="en-US" smtClean="0"/>
              <a:t>1</a:t>
            </a:fld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DA152A6-2F7A-922E-485D-43352472CEEF}"/>
              </a:ext>
            </a:extLst>
          </p:cNvPr>
          <p:cNvSpPr/>
          <p:nvPr/>
        </p:nvSpPr>
        <p:spPr>
          <a:xfrm>
            <a:off x="77724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威志雲端　Y'S CLOUD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366432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A8DDA1A-14D5-11BA-73A1-A0408C0FF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B7D7-A615-4EBC-AC00-85E88FB77C47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63654E21-6D64-6B3E-379C-CC0CB711A50B}"/>
              </a:ext>
            </a:extLst>
          </p:cNvPr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9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5E10DD4-A93A-0472-8222-512731F7603B}"/>
              </a:ext>
            </a:extLst>
          </p:cNvPr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打卡資料流程</a:t>
            </a:r>
            <a:endParaRPr lang="en-US" sz="28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9267C335-32BF-333B-1CE3-109CB46B31AD}"/>
              </a:ext>
            </a:extLst>
          </p:cNvPr>
          <p:cNvSpPr/>
          <p:nvPr/>
        </p:nvSpPr>
        <p:spPr>
          <a:xfrm>
            <a:off x="1482480" y="2535406"/>
            <a:ext cx="8755380" cy="0"/>
          </a:xfrm>
          <a:prstGeom prst="line">
            <a:avLst/>
          </a:prstGeom>
          <a:noFill/>
          <a:ln w="25400">
            <a:solidFill>
              <a:srgbClr val="E2E6E5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482EFF1F-6F7D-115E-CE9E-1FB3A13C3ED5}"/>
              </a:ext>
            </a:extLst>
          </p:cNvPr>
          <p:cNvSpPr/>
          <p:nvPr/>
        </p:nvSpPr>
        <p:spPr>
          <a:xfrm>
            <a:off x="1093860" y="2146786"/>
            <a:ext cx="777240" cy="777240"/>
          </a:xfrm>
          <a:prstGeom prst="ellipse">
            <a:avLst/>
          </a:prstGeom>
          <a:solidFill>
            <a:srgbClr val="2F9696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2" name="Image 0" descr="/home/claude/icons/phone_white.png">
            <a:extLst>
              <a:ext uri="{FF2B5EF4-FFF2-40B4-BE49-F238E27FC236}">
                <a16:creationId xmlns:a16="http://schemas.microsoft.com/office/drawing/2014/main" id="{A97C5776-73A0-F794-04D4-B747D52CE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942" y="2348868"/>
            <a:ext cx="373075" cy="373075"/>
          </a:xfrm>
          <a:prstGeom prst="rect">
            <a:avLst/>
          </a:prstGeom>
        </p:spPr>
      </p:pic>
      <p:sp>
        <p:nvSpPr>
          <p:cNvPr id="14" name="Shape 4">
            <a:extLst>
              <a:ext uri="{FF2B5EF4-FFF2-40B4-BE49-F238E27FC236}">
                <a16:creationId xmlns:a16="http://schemas.microsoft.com/office/drawing/2014/main" id="{93A3CA00-1FE2-F7E1-9DB6-900D3D2DDEB9}"/>
              </a:ext>
            </a:extLst>
          </p:cNvPr>
          <p:cNvSpPr/>
          <p:nvPr/>
        </p:nvSpPr>
        <p:spPr>
          <a:xfrm>
            <a:off x="1615068" y="2667994"/>
            <a:ext cx="365760" cy="365760"/>
          </a:xfrm>
          <a:prstGeom prst="ellipse">
            <a:avLst/>
          </a:prstGeom>
          <a:solidFill>
            <a:srgbClr val="073040"/>
          </a:solidFill>
          <a:ln w="25400">
            <a:solidFill>
              <a:srgbClr val="FDFBF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BF8868D2-605F-DD88-9F0A-983B77E21691}"/>
              </a:ext>
            </a:extLst>
          </p:cNvPr>
          <p:cNvSpPr/>
          <p:nvPr/>
        </p:nvSpPr>
        <p:spPr>
          <a:xfrm>
            <a:off x="1615068" y="266799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96C2D565-DFD6-21FD-2CC7-E56E1A680C49}"/>
              </a:ext>
            </a:extLst>
          </p:cNvPr>
          <p:cNvSpPr/>
          <p:nvPr/>
        </p:nvSpPr>
        <p:spPr>
          <a:xfrm>
            <a:off x="179460" y="316177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端觸發</a:t>
            </a:r>
            <a:endParaRPr lang="en-US" sz="16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D693F4BE-0F17-0444-C6EF-C9DF3676A888}"/>
              </a:ext>
            </a:extLst>
          </p:cNvPr>
          <p:cNvSpPr/>
          <p:nvPr/>
        </p:nvSpPr>
        <p:spPr>
          <a:xfrm>
            <a:off x="179460" y="3527530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員工在 LINE 官方帳號打卡。</a:t>
            </a:r>
            <a:endParaRPr lang="en-US" sz="1200" dirty="0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616AC26A-BFBA-8582-0CA3-B85B57541A75}"/>
              </a:ext>
            </a:extLst>
          </p:cNvPr>
          <p:cNvSpPr/>
          <p:nvPr/>
        </p:nvSpPr>
        <p:spPr>
          <a:xfrm>
            <a:off x="3967688" y="2146786"/>
            <a:ext cx="777240" cy="777240"/>
          </a:xfrm>
          <a:prstGeom prst="ellipse">
            <a:avLst/>
          </a:prstGeom>
          <a:solidFill>
            <a:srgbClr val="2F9696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4" name="Image 1" descr="/home/claude/icons/upload_white.png">
            <a:extLst>
              <a:ext uri="{FF2B5EF4-FFF2-40B4-BE49-F238E27FC236}">
                <a16:creationId xmlns:a16="http://schemas.microsoft.com/office/drawing/2014/main" id="{54C4A902-645D-29AB-B93C-379C78FDB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770" y="2348868"/>
            <a:ext cx="373075" cy="373075"/>
          </a:xfrm>
          <a:prstGeom prst="rect">
            <a:avLst/>
          </a:prstGeom>
        </p:spPr>
      </p:pic>
      <p:sp>
        <p:nvSpPr>
          <p:cNvPr id="26" name="Shape 9">
            <a:extLst>
              <a:ext uri="{FF2B5EF4-FFF2-40B4-BE49-F238E27FC236}">
                <a16:creationId xmlns:a16="http://schemas.microsoft.com/office/drawing/2014/main" id="{A78C89E8-D725-5280-73C6-D392BC7BCEE9}"/>
              </a:ext>
            </a:extLst>
          </p:cNvPr>
          <p:cNvSpPr/>
          <p:nvPr/>
        </p:nvSpPr>
        <p:spPr>
          <a:xfrm>
            <a:off x="4488896" y="2667994"/>
            <a:ext cx="365760" cy="365760"/>
          </a:xfrm>
          <a:prstGeom prst="ellipse">
            <a:avLst/>
          </a:prstGeom>
          <a:solidFill>
            <a:srgbClr val="073040"/>
          </a:solidFill>
          <a:ln w="25400">
            <a:solidFill>
              <a:srgbClr val="FDFBF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05FB2CA8-C2A9-1D7A-803F-DA1E4278E0A8}"/>
              </a:ext>
            </a:extLst>
          </p:cNvPr>
          <p:cNvSpPr/>
          <p:nvPr/>
        </p:nvSpPr>
        <p:spPr>
          <a:xfrm>
            <a:off x="4488896" y="266799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5B6473E1-609D-DBF5-690F-5218A3B371E9}"/>
              </a:ext>
            </a:extLst>
          </p:cNvPr>
          <p:cNvSpPr/>
          <p:nvPr/>
        </p:nvSpPr>
        <p:spPr>
          <a:xfrm>
            <a:off x="3053288" y="316177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送出 Webhook</a:t>
            </a:r>
            <a:endParaRPr lang="en-US" sz="1600" dirty="0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43F6FC0C-9B23-AC6C-DA8D-25E3761368BC}"/>
              </a:ext>
            </a:extLst>
          </p:cNvPr>
          <p:cNvSpPr/>
          <p:nvPr/>
        </p:nvSpPr>
        <p:spPr>
          <a:xfrm>
            <a:off x="3053288" y="3527530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平台將打卡資訊（User ID、時間、打卡類型）打包成 JSON，透過加密 HTTPS 傳送到 GAS 網址。</a:t>
            </a:r>
            <a:endParaRPr lang="en-US" sz="1200" dirty="0"/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8C3A2832-2285-21C0-4BD8-664F714F112E}"/>
              </a:ext>
            </a:extLst>
          </p:cNvPr>
          <p:cNvSpPr/>
          <p:nvPr/>
        </p:nvSpPr>
        <p:spPr>
          <a:xfrm>
            <a:off x="6965924" y="2146786"/>
            <a:ext cx="777240" cy="777240"/>
          </a:xfrm>
          <a:prstGeom prst="ellipse">
            <a:avLst/>
          </a:prstGeom>
          <a:solidFill>
            <a:srgbClr val="2F9696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36" name="Image 2" descr="/home/claude/icons/gear_white.png">
            <a:extLst>
              <a:ext uri="{FF2B5EF4-FFF2-40B4-BE49-F238E27FC236}">
                <a16:creationId xmlns:a16="http://schemas.microsoft.com/office/drawing/2014/main" id="{09888DC0-3A85-583F-F104-00BCDDF77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006" y="2348868"/>
            <a:ext cx="373075" cy="373075"/>
          </a:xfrm>
          <a:prstGeom prst="rect">
            <a:avLst/>
          </a:prstGeom>
        </p:spPr>
      </p:pic>
      <p:sp>
        <p:nvSpPr>
          <p:cNvPr id="38" name="Shape 14">
            <a:extLst>
              <a:ext uri="{FF2B5EF4-FFF2-40B4-BE49-F238E27FC236}">
                <a16:creationId xmlns:a16="http://schemas.microsoft.com/office/drawing/2014/main" id="{F8969563-9C87-92EF-D7C9-B832DF229001}"/>
              </a:ext>
            </a:extLst>
          </p:cNvPr>
          <p:cNvSpPr/>
          <p:nvPr/>
        </p:nvSpPr>
        <p:spPr>
          <a:xfrm>
            <a:off x="7487132" y="2667994"/>
            <a:ext cx="365760" cy="365760"/>
          </a:xfrm>
          <a:prstGeom prst="ellipse">
            <a:avLst/>
          </a:prstGeom>
          <a:solidFill>
            <a:srgbClr val="073040"/>
          </a:solidFill>
          <a:ln w="25400">
            <a:solidFill>
              <a:srgbClr val="FDFBF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698F2F3E-CBFD-FCD9-1439-3F87B92E45BC}"/>
              </a:ext>
            </a:extLst>
          </p:cNvPr>
          <p:cNvSpPr/>
          <p:nvPr/>
        </p:nvSpPr>
        <p:spPr>
          <a:xfrm>
            <a:off x="7487132" y="266799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810F656F-553B-4AC5-219D-2232D05B09A9}"/>
              </a:ext>
            </a:extLst>
          </p:cNvPr>
          <p:cNvSpPr/>
          <p:nvPr/>
        </p:nvSpPr>
        <p:spPr>
          <a:xfrm>
            <a:off x="6051524" y="316177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接收與處理</a:t>
            </a:r>
            <a:endParaRPr lang="en-US" sz="1600" dirty="0"/>
          </a:p>
        </p:txBody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392732AC-232A-A223-64BC-871B25F60848}"/>
              </a:ext>
            </a:extLst>
          </p:cNvPr>
          <p:cNvSpPr/>
          <p:nvPr/>
        </p:nvSpPr>
        <p:spPr>
          <a:xfrm>
            <a:off x="6051524" y="3527530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doPost(e) 接收資料，對照員工編號、格式化時間，並從 Script Properties 安全讀取 Kintone API Token。</a:t>
            </a:r>
            <a:endParaRPr lang="en-US" sz="1200" dirty="0"/>
          </a:p>
        </p:txBody>
      </p:sp>
      <p:sp>
        <p:nvSpPr>
          <p:cNvPr id="46" name="Shape 18">
            <a:extLst>
              <a:ext uri="{FF2B5EF4-FFF2-40B4-BE49-F238E27FC236}">
                <a16:creationId xmlns:a16="http://schemas.microsoft.com/office/drawing/2014/main" id="{5DAFFA2B-32A6-7CC4-462A-2B6DD6EA67ED}"/>
              </a:ext>
            </a:extLst>
          </p:cNvPr>
          <p:cNvSpPr/>
          <p:nvPr/>
        </p:nvSpPr>
        <p:spPr>
          <a:xfrm>
            <a:off x="10057467" y="2146786"/>
            <a:ext cx="777240" cy="777240"/>
          </a:xfrm>
          <a:prstGeom prst="ellipse">
            <a:avLst/>
          </a:prstGeom>
          <a:solidFill>
            <a:srgbClr val="2F9696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48" name="Image 3" descr="/home/claude/icons/clouddone_white.png">
            <a:extLst>
              <a:ext uri="{FF2B5EF4-FFF2-40B4-BE49-F238E27FC236}">
                <a16:creationId xmlns:a16="http://schemas.microsoft.com/office/drawing/2014/main" id="{635549E9-1B21-CD77-FCFF-B5B97A2D26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549" y="2348868"/>
            <a:ext cx="373075" cy="373075"/>
          </a:xfrm>
          <a:prstGeom prst="rect">
            <a:avLst/>
          </a:prstGeom>
        </p:spPr>
      </p:pic>
      <p:sp>
        <p:nvSpPr>
          <p:cNvPr id="50" name="Shape 19">
            <a:extLst>
              <a:ext uri="{FF2B5EF4-FFF2-40B4-BE49-F238E27FC236}">
                <a16:creationId xmlns:a16="http://schemas.microsoft.com/office/drawing/2014/main" id="{840A703A-CB16-D7CF-914E-0C61A8F97507}"/>
              </a:ext>
            </a:extLst>
          </p:cNvPr>
          <p:cNvSpPr/>
          <p:nvPr/>
        </p:nvSpPr>
        <p:spPr>
          <a:xfrm>
            <a:off x="10578675" y="2667994"/>
            <a:ext cx="365760" cy="365760"/>
          </a:xfrm>
          <a:prstGeom prst="ellipse">
            <a:avLst/>
          </a:prstGeom>
          <a:solidFill>
            <a:srgbClr val="073040"/>
          </a:solidFill>
          <a:ln w="25400">
            <a:solidFill>
              <a:srgbClr val="FDFBF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Text 20">
            <a:extLst>
              <a:ext uri="{FF2B5EF4-FFF2-40B4-BE49-F238E27FC236}">
                <a16:creationId xmlns:a16="http://schemas.microsoft.com/office/drawing/2014/main" id="{4728C62F-F2F9-7BF4-5D92-617188C96379}"/>
              </a:ext>
            </a:extLst>
          </p:cNvPr>
          <p:cNvSpPr/>
          <p:nvPr/>
        </p:nvSpPr>
        <p:spPr>
          <a:xfrm>
            <a:off x="10578675" y="266799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4" name="Text 21">
            <a:extLst>
              <a:ext uri="{FF2B5EF4-FFF2-40B4-BE49-F238E27FC236}">
                <a16:creationId xmlns:a16="http://schemas.microsoft.com/office/drawing/2014/main" id="{6FE7AF4C-E0C6-CB16-A080-C2B56F91D46E}"/>
              </a:ext>
            </a:extLst>
          </p:cNvPr>
          <p:cNvSpPr/>
          <p:nvPr/>
        </p:nvSpPr>
        <p:spPr>
          <a:xfrm>
            <a:off x="9143067" y="316177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安全寫入 Kintone</a:t>
            </a:r>
            <a:endParaRPr lang="en-US" sz="1600" dirty="0"/>
          </a:p>
        </p:txBody>
      </p:sp>
      <p:sp>
        <p:nvSpPr>
          <p:cNvPr id="56" name="Text 22">
            <a:extLst>
              <a:ext uri="{FF2B5EF4-FFF2-40B4-BE49-F238E27FC236}">
                <a16:creationId xmlns:a16="http://schemas.microsoft.com/office/drawing/2014/main" id="{93AA7BB6-196B-B688-0880-E57062EFAB95}"/>
              </a:ext>
            </a:extLst>
          </p:cNvPr>
          <p:cNvSpPr/>
          <p:nvPr/>
        </p:nvSpPr>
        <p:spPr>
          <a:xfrm>
            <a:off x="9143067" y="3527530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用 UrlFetchApp 夾帶 API 金鑰，透過加密連線在打卡 App 新增一筆紀錄。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17618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C87907A-2D3C-D867-7038-DD9554C5C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B7D7-A615-4EBC-AC00-85E88FB77C47}" type="slidenum">
              <a:rPr lang="zh-TW" alt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fld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1539D8E3-051D-F94B-D159-11FB20F65078}"/>
              </a:ext>
            </a:extLst>
          </p:cNvPr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9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E36C2DA-8F7A-A725-CC5F-5EB608305992}"/>
              </a:ext>
            </a:extLst>
          </p:cNvPr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為什麼這樣「很安全」？</a:t>
            </a:r>
            <a:endParaRPr lang="en-US" sz="280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7C102568-142B-F5C4-638B-517F91543623}"/>
              </a:ext>
            </a:extLst>
          </p:cNvPr>
          <p:cNvSpPr/>
          <p:nvPr/>
        </p:nvSpPr>
        <p:spPr>
          <a:xfrm>
            <a:off x="548640" y="1783080"/>
            <a:ext cx="5166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6E5"/>
            </a:solidFill>
            <a:prstDash val="solid"/>
          </a:ln>
          <a:effectLst>
            <a:outerShdw blurRad="101600" dist="25400" dir="5400000" algn="bl" rotWithShape="0">
              <a:srgbClr val="07304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93C30884-0A35-3E9E-4A19-556F6F5F7646}"/>
              </a:ext>
            </a:extLst>
          </p:cNvPr>
          <p:cNvSpPr/>
          <p:nvPr/>
        </p:nvSpPr>
        <p:spPr>
          <a:xfrm>
            <a:off x="804672" y="2039112"/>
            <a:ext cx="548640" cy="548640"/>
          </a:xfrm>
          <a:prstGeom prst="ellipse">
            <a:avLst/>
          </a:prstGeom>
          <a:solidFill>
            <a:srgbClr val="DFF0EE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1" name="Image 0" descr="/home/claude/icons/lock_navy.png">
            <a:extLst>
              <a:ext uri="{FF2B5EF4-FFF2-40B4-BE49-F238E27FC236}">
                <a16:creationId xmlns:a16="http://schemas.microsoft.com/office/drawing/2014/main" id="{3D1CA197-02A4-D8E5-9C23-7A44054E2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18" y="2181758"/>
            <a:ext cx="263347" cy="263347"/>
          </a:xfrm>
          <a:prstGeom prst="rect">
            <a:avLst/>
          </a:prstGeom>
        </p:spPr>
      </p:pic>
      <p:sp>
        <p:nvSpPr>
          <p:cNvPr id="25" name="Text 4">
            <a:extLst>
              <a:ext uri="{FF2B5EF4-FFF2-40B4-BE49-F238E27FC236}">
                <a16:creationId xmlns:a16="http://schemas.microsoft.com/office/drawing/2014/main" id="{3A62E8C4-177C-1175-9019-D598FAB2E12D}"/>
              </a:ext>
            </a:extLst>
          </p:cNvPr>
          <p:cNvSpPr/>
          <p:nvPr/>
        </p:nvSpPr>
        <p:spPr>
          <a:xfrm>
            <a:off x="1508760" y="203911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加密傳輸</a:t>
            </a:r>
            <a:endParaRPr lang="en-US" sz="16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170D5FC6-5414-8719-0F38-3517DF1EE4FA}"/>
              </a:ext>
            </a:extLst>
          </p:cNvPr>
          <p:cNvSpPr/>
          <p:nvPr/>
        </p:nvSpPr>
        <p:spPr>
          <a:xfrm>
            <a:off x="822960" y="2651760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→ GAS、GAS → Kintone 全程走 HTTPS，資料在傳送過程中經過加密，第三方無法竊聽或竄改。</a:t>
            </a:r>
            <a:endParaRPr lang="en-US" sz="1400" dirty="0"/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35A6875D-D26D-016A-61BD-A76D8EC93149}"/>
              </a:ext>
            </a:extLst>
          </p:cNvPr>
          <p:cNvSpPr/>
          <p:nvPr/>
        </p:nvSpPr>
        <p:spPr>
          <a:xfrm>
            <a:off x="6035040" y="1783080"/>
            <a:ext cx="5166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6E5"/>
            </a:solidFill>
            <a:prstDash val="solid"/>
          </a:ln>
          <a:effectLst>
            <a:outerShdw blurRad="101600" dist="25400" dir="5400000" algn="bl" rotWithShape="0">
              <a:srgbClr val="07304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50333082-3BBF-8533-EDE9-B5BC0605B207}"/>
              </a:ext>
            </a:extLst>
          </p:cNvPr>
          <p:cNvSpPr/>
          <p:nvPr/>
        </p:nvSpPr>
        <p:spPr>
          <a:xfrm>
            <a:off x="6291072" y="2039112"/>
            <a:ext cx="548640" cy="548640"/>
          </a:xfrm>
          <a:prstGeom prst="ellipse">
            <a:avLst/>
          </a:prstGeom>
          <a:solidFill>
            <a:srgbClr val="DFF0EE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41" name="Image 1" descr="/home/claude/icons/key_navy.png">
            <a:extLst>
              <a:ext uri="{FF2B5EF4-FFF2-40B4-BE49-F238E27FC236}">
                <a16:creationId xmlns:a16="http://schemas.microsoft.com/office/drawing/2014/main" id="{36CA0DE8-06C9-437C-5E9F-A7CB023CF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718" y="2181758"/>
            <a:ext cx="263347" cy="263347"/>
          </a:xfrm>
          <a:prstGeom prst="rect">
            <a:avLst/>
          </a:prstGeom>
        </p:spPr>
      </p:pic>
      <p:sp>
        <p:nvSpPr>
          <p:cNvPr id="45" name="Text 8">
            <a:extLst>
              <a:ext uri="{FF2B5EF4-FFF2-40B4-BE49-F238E27FC236}">
                <a16:creationId xmlns:a16="http://schemas.microsoft.com/office/drawing/2014/main" id="{260AF63A-2749-0A78-0D93-7626CBF3782A}"/>
              </a:ext>
            </a:extLst>
          </p:cNvPr>
          <p:cNvSpPr/>
          <p:nvPr/>
        </p:nvSpPr>
        <p:spPr>
          <a:xfrm>
            <a:off x="6995160" y="203911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金鑰不落地前端</a:t>
            </a:r>
            <a:endParaRPr lang="en-US" sz="1600" dirty="0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F6965531-EF01-0129-861C-29B625D71AE0}"/>
              </a:ext>
            </a:extLst>
          </p:cNvPr>
          <p:cNvSpPr/>
          <p:nvPr/>
        </p:nvSpPr>
        <p:spPr>
          <a:xfrm>
            <a:off x="6309360" y="2651760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Kintone API Token 只存放在 GAS 的 Script Properties（後端），LIFF 網頁與使用者的手機裝置永遠碰不到金鑰。</a:t>
            </a:r>
            <a:endParaRPr lang="en-US" sz="1400" dirty="0"/>
          </a:p>
        </p:txBody>
      </p:sp>
      <p:sp>
        <p:nvSpPr>
          <p:cNvPr id="50" name="Shape 10">
            <a:extLst>
              <a:ext uri="{FF2B5EF4-FFF2-40B4-BE49-F238E27FC236}">
                <a16:creationId xmlns:a16="http://schemas.microsoft.com/office/drawing/2014/main" id="{7BBF244A-622A-A0BC-93FF-D7C5EB3DC06A}"/>
              </a:ext>
            </a:extLst>
          </p:cNvPr>
          <p:cNvSpPr/>
          <p:nvPr/>
        </p:nvSpPr>
        <p:spPr>
          <a:xfrm>
            <a:off x="548640" y="3840480"/>
            <a:ext cx="5166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6E5"/>
            </a:solidFill>
            <a:prstDash val="solid"/>
          </a:ln>
          <a:effectLst>
            <a:outerShdw blurRad="101600" dist="25400" dir="5400000" algn="bl" rotWithShape="0">
              <a:srgbClr val="07304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2" name="Shape 11">
            <a:extLst>
              <a:ext uri="{FF2B5EF4-FFF2-40B4-BE49-F238E27FC236}">
                <a16:creationId xmlns:a16="http://schemas.microsoft.com/office/drawing/2014/main" id="{438E2B74-C88F-75C3-A26C-D314F076399D}"/>
              </a:ext>
            </a:extLst>
          </p:cNvPr>
          <p:cNvSpPr/>
          <p:nvPr/>
        </p:nvSpPr>
        <p:spPr>
          <a:xfrm>
            <a:off x="804672" y="4096512"/>
            <a:ext cx="548640" cy="548640"/>
          </a:xfrm>
          <a:prstGeom prst="ellipse">
            <a:avLst/>
          </a:prstGeom>
          <a:solidFill>
            <a:srgbClr val="DFF0EE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54" name="Image 2" descr="/home/claude/icons/verified_navy.png">
            <a:extLst>
              <a:ext uri="{FF2B5EF4-FFF2-40B4-BE49-F238E27FC236}">
                <a16:creationId xmlns:a16="http://schemas.microsoft.com/office/drawing/2014/main" id="{FDF11A6B-CB8A-2409-347A-81E6FDAF7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" y="4239158"/>
            <a:ext cx="263347" cy="263347"/>
          </a:xfrm>
          <a:prstGeom prst="rect">
            <a:avLst/>
          </a:prstGeom>
        </p:spPr>
      </p:pic>
      <p:sp>
        <p:nvSpPr>
          <p:cNvPr id="56" name="Text 12">
            <a:extLst>
              <a:ext uri="{FF2B5EF4-FFF2-40B4-BE49-F238E27FC236}">
                <a16:creationId xmlns:a16="http://schemas.microsoft.com/office/drawing/2014/main" id="{128A1A09-D624-82D4-9CAD-535A81999E86}"/>
              </a:ext>
            </a:extLst>
          </p:cNvPr>
          <p:cNvSpPr/>
          <p:nvPr/>
        </p:nvSpPr>
        <p:spPr>
          <a:xfrm>
            <a:off x="1508760" y="409651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單一入口把關</a:t>
            </a:r>
            <a:endParaRPr lang="en-US" sz="1600" dirty="0"/>
          </a:p>
        </p:txBody>
      </p:sp>
      <p:sp>
        <p:nvSpPr>
          <p:cNvPr id="58" name="Text 13">
            <a:extLst>
              <a:ext uri="{FF2B5EF4-FFF2-40B4-BE49-F238E27FC236}">
                <a16:creationId xmlns:a16="http://schemas.microsoft.com/office/drawing/2014/main" id="{64A587D0-699C-9222-D6EC-FCCCD6ECA495}"/>
              </a:ext>
            </a:extLst>
          </p:cNvPr>
          <p:cNvSpPr/>
          <p:nvPr/>
        </p:nvSpPr>
        <p:spPr>
          <a:xfrm>
            <a:off x="822960" y="4709160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所有寫入請求都先經過 doPost(e) 中介層，做身分核對與資料整理，不接受未經處理的原始資料直接寫入。</a:t>
            </a:r>
            <a:endParaRPr lang="en-US" sz="1400" dirty="0"/>
          </a:p>
        </p:txBody>
      </p:sp>
      <p:sp>
        <p:nvSpPr>
          <p:cNvPr id="60" name="Shape 14">
            <a:extLst>
              <a:ext uri="{FF2B5EF4-FFF2-40B4-BE49-F238E27FC236}">
                <a16:creationId xmlns:a16="http://schemas.microsoft.com/office/drawing/2014/main" id="{ED9B6473-A908-0271-9FE1-D930C71FE988}"/>
              </a:ext>
            </a:extLst>
          </p:cNvPr>
          <p:cNvSpPr/>
          <p:nvPr/>
        </p:nvSpPr>
        <p:spPr>
          <a:xfrm>
            <a:off x="6035040" y="3840480"/>
            <a:ext cx="5166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6E5"/>
            </a:solidFill>
            <a:prstDash val="solid"/>
          </a:ln>
          <a:effectLst>
            <a:outerShdw blurRad="101600" dist="25400" dir="5400000" algn="bl" rotWithShape="0">
              <a:srgbClr val="07304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2" name="Shape 15">
            <a:extLst>
              <a:ext uri="{FF2B5EF4-FFF2-40B4-BE49-F238E27FC236}">
                <a16:creationId xmlns:a16="http://schemas.microsoft.com/office/drawing/2014/main" id="{17E83985-90F1-0852-2FF3-22B560C2F884}"/>
              </a:ext>
            </a:extLst>
          </p:cNvPr>
          <p:cNvSpPr/>
          <p:nvPr/>
        </p:nvSpPr>
        <p:spPr>
          <a:xfrm>
            <a:off x="6291072" y="4096512"/>
            <a:ext cx="548640" cy="548640"/>
          </a:xfrm>
          <a:prstGeom prst="ellipse">
            <a:avLst/>
          </a:prstGeom>
          <a:solidFill>
            <a:srgbClr val="DFF0EE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64" name="Image 3" descr="/home/claude/icons/shield_navy.png">
            <a:extLst>
              <a:ext uri="{FF2B5EF4-FFF2-40B4-BE49-F238E27FC236}">
                <a16:creationId xmlns:a16="http://schemas.microsoft.com/office/drawing/2014/main" id="{D04755CF-0A50-0186-667D-803DD2993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3718" y="4239158"/>
            <a:ext cx="263347" cy="263347"/>
          </a:xfrm>
          <a:prstGeom prst="rect">
            <a:avLst/>
          </a:prstGeom>
        </p:spPr>
      </p:pic>
      <p:sp>
        <p:nvSpPr>
          <p:cNvPr id="66" name="Text 16">
            <a:extLst>
              <a:ext uri="{FF2B5EF4-FFF2-40B4-BE49-F238E27FC236}">
                <a16:creationId xmlns:a16="http://schemas.microsoft.com/office/drawing/2014/main" id="{CE6916AD-34D9-1256-9898-6846D2A3F74E}"/>
              </a:ext>
            </a:extLst>
          </p:cNvPr>
          <p:cNvSpPr/>
          <p:nvPr/>
        </p:nvSpPr>
        <p:spPr>
          <a:xfrm>
            <a:off x="6995160" y="409651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最小權限設計</a:t>
            </a:r>
            <a:endParaRPr lang="en-US" sz="1600" dirty="0"/>
          </a:p>
        </p:txBody>
      </p:sp>
      <p:sp>
        <p:nvSpPr>
          <p:cNvPr id="68" name="Text 17">
            <a:extLst>
              <a:ext uri="{FF2B5EF4-FFF2-40B4-BE49-F238E27FC236}">
                <a16:creationId xmlns:a16="http://schemas.microsoft.com/office/drawing/2014/main" id="{AF1EF621-97F4-3887-3B5A-A2E291B6D2FC}"/>
              </a:ext>
            </a:extLst>
          </p:cNvPr>
          <p:cNvSpPr/>
          <p:nvPr/>
        </p:nvSpPr>
        <p:spPr>
          <a:xfrm>
            <a:off x="6309360" y="4709160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每支 API Token 只對應必要的 Kintone App 與欄位權限，即使外洩也不會波及其他系統或資料庫。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22180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6D8DFFE-1F44-FCA4-D398-F9C5F26CA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B7D7-A615-4EBC-AC00-85E88FB77C47}" type="slidenum">
              <a:rPr lang="zh-TW" alt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fld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C5183459-8B21-1A5E-50DF-F43C13427741}"/>
              </a:ext>
            </a:extLst>
          </p:cNvPr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9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01-02</a:t>
            </a:r>
            <a:endParaRPr lang="en-US" sz="12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AB9D4FFF-6465-0093-2DAC-6FE376FA1EB6}"/>
              </a:ext>
            </a:extLst>
          </p:cNvPr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Kintone App 建置</a:t>
            </a:r>
            <a:endParaRPr lang="en-US" sz="28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41DDC84C-B2AC-369E-6F12-A00703F320C0}"/>
              </a:ext>
            </a:extLst>
          </p:cNvPr>
          <p:cNvSpPr/>
          <p:nvPr/>
        </p:nvSpPr>
        <p:spPr>
          <a:xfrm>
            <a:off x="548640" y="117043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兩個核心 App，分別管理員工與打卡資料</a:t>
            </a:r>
            <a:endParaRPr lang="en-US" sz="130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BECFAFA8-9D5D-F361-1C06-47EA18842B9E}"/>
              </a:ext>
            </a:extLst>
          </p:cNvPr>
          <p:cNvSpPr/>
          <p:nvPr/>
        </p:nvSpPr>
        <p:spPr>
          <a:xfrm>
            <a:off x="548640" y="1828800"/>
            <a:ext cx="516636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2E6E5"/>
            </a:solidFill>
            <a:prstDash val="solid"/>
          </a:ln>
          <a:effectLst>
            <a:outerShdw blurRad="127000" dist="25400" dir="5400000" algn="bl" rotWithShape="0">
              <a:srgbClr val="07304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223E8165-4827-823C-8E6F-E55827FAEB8F}"/>
              </a:ext>
            </a:extLst>
          </p:cNvPr>
          <p:cNvSpPr/>
          <p:nvPr/>
        </p:nvSpPr>
        <p:spPr>
          <a:xfrm>
            <a:off x="548640" y="1828800"/>
            <a:ext cx="5166360" cy="868680"/>
          </a:xfrm>
          <a:prstGeom prst="roundRect">
            <a:avLst>
              <a:gd name="adj" fmla="val 10526"/>
            </a:avLst>
          </a:prstGeom>
          <a:solidFill>
            <a:srgbClr val="0730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FF20103D-948C-D0EC-D6E1-559A4ACB0E4D}"/>
              </a:ext>
            </a:extLst>
          </p:cNvPr>
          <p:cNvSpPr/>
          <p:nvPr/>
        </p:nvSpPr>
        <p:spPr>
          <a:xfrm>
            <a:off x="548640" y="2286000"/>
            <a:ext cx="5166360" cy="411480"/>
          </a:xfrm>
          <a:prstGeom prst="rect">
            <a:avLst/>
          </a:prstGeom>
          <a:solidFill>
            <a:srgbClr val="0730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276BABD3-A34E-8F4C-DF6A-D22965C56381}"/>
              </a:ext>
            </a:extLst>
          </p:cNvPr>
          <p:cNvSpPr/>
          <p:nvPr/>
        </p:nvSpPr>
        <p:spPr>
          <a:xfrm>
            <a:off x="822960" y="1993392"/>
            <a:ext cx="548640" cy="548640"/>
          </a:xfrm>
          <a:prstGeom prst="ellipse">
            <a:avLst/>
          </a:prstGeom>
          <a:solidFill>
            <a:srgbClr val="2F9696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0" name="Image 0" descr="/home/claude/icons/person_white.png">
            <a:extLst>
              <a:ext uri="{FF2B5EF4-FFF2-40B4-BE49-F238E27FC236}">
                <a16:creationId xmlns:a16="http://schemas.microsoft.com/office/drawing/2014/main" id="{80C7E6AD-30C9-C897-29C8-2602ABA31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136038"/>
            <a:ext cx="263347" cy="263347"/>
          </a:xfrm>
          <a:prstGeom prst="rect">
            <a:avLst/>
          </a:prstGeom>
        </p:spPr>
      </p:pic>
      <p:sp>
        <p:nvSpPr>
          <p:cNvPr id="22" name="Text 7">
            <a:extLst>
              <a:ext uri="{FF2B5EF4-FFF2-40B4-BE49-F238E27FC236}">
                <a16:creationId xmlns:a16="http://schemas.microsoft.com/office/drawing/2014/main" id="{A93CFBE3-2893-4742-8540-06DD507A543A}"/>
              </a:ext>
            </a:extLst>
          </p:cNvPr>
          <p:cNvSpPr/>
          <p:nvPr/>
        </p:nvSpPr>
        <p:spPr>
          <a:xfrm>
            <a:off x="1508760" y="1828800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員工主檔 App</a:t>
            </a:r>
            <a:endParaRPr lang="en-US" sz="1800" dirty="0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B32B8719-5037-4EDB-9BCA-A6BE8A3681CF}"/>
              </a:ext>
            </a:extLst>
          </p:cNvPr>
          <p:cNvSpPr/>
          <p:nvPr/>
        </p:nvSpPr>
        <p:spPr>
          <a:xfrm>
            <a:off x="868680" y="3108960"/>
            <a:ext cx="82296" cy="82296"/>
          </a:xfrm>
          <a:prstGeom prst="ellipse">
            <a:avLst/>
          </a:prstGeom>
          <a:solidFill>
            <a:srgbClr val="2F969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D6314FAA-8CED-1AA0-2222-C3FB0F03E917}"/>
              </a:ext>
            </a:extLst>
          </p:cNvPr>
          <p:cNvSpPr/>
          <p:nvPr/>
        </p:nvSpPr>
        <p:spPr>
          <a:xfrm>
            <a:off x="1097280" y="2944368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員工編號、員工姓名</a:t>
            </a:r>
            <a:endParaRPr lang="en-US" sz="1400" dirty="0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C4FC9157-BE1F-0A42-AB35-DE00EACD3C4F}"/>
              </a:ext>
            </a:extLst>
          </p:cNvPr>
          <p:cNvSpPr/>
          <p:nvPr/>
        </p:nvSpPr>
        <p:spPr>
          <a:xfrm>
            <a:off x="868680" y="3639312"/>
            <a:ext cx="82296" cy="82296"/>
          </a:xfrm>
          <a:prstGeom prst="ellipse">
            <a:avLst/>
          </a:prstGeom>
          <a:solidFill>
            <a:srgbClr val="2F969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5AE23C11-28E1-FD75-2050-D30380599887}"/>
              </a:ext>
            </a:extLst>
          </p:cNvPr>
          <p:cNvSpPr/>
          <p:nvPr/>
        </p:nvSpPr>
        <p:spPr>
          <a:xfrm>
            <a:off x="1097280" y="347472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14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</a:t>
            </a:r>
            <a:r>
              <a:rPr lang="en-US" altLang="zh-TW" sz="14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r>
              <a:rPr lang="zh-TW" altLang="en-US" sz="14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帳號</a:t>
            </a:r>
            <a:r>
              <a:rPr lang="zh-TW" altLang="en-US" sz="120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</a:t>
            </a:r>
            <a:r>
              <a:rPr lang="en-US" sz="120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帳號綁定欄位</a:t>
            </a:r>
            <a:r>
              <a:rPr lang="zh-TW" altLang="en-US" sz="120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1400" i="1" dirty="0">
              <a:solidFill>
                <a:srgbClr val="7C8A90"/>
              </a:solidFill>
            </a:endParaRPr>
          </a:p>
        </p:txBody>
      </p:sp>
      <p:sp>
        <p:nvSpPr>
          <p:cNvPr id="32" name="Shape 12">
            <a:extLst>
              <a:ext uri="{FF2B5EF4-FFF2-40B4-BE49-F238E27FC236}">
                <a16:creationId xmlns:a16="http://schemas.microsoft.com/office/drawing/2014/main" id="{7AA5314A-6C58-6398-6391-8BBAF277834D}"/>
              </a:ext>
            </a:extLst>
          </p:cNvPr>
          <p:cNvSpPr/>
          <p:nvPr/>
        </p:nvSpPr>
        <p:spPr>
          <a:xfrm>
            <a:off x="868680" y="4169664"/>
            <a:ext cx="82296" cy="82296"/>
          </a:xfrm>
          <a:prstGeom prst="ellipse">
            <a:avLst/>
          </a:prstGeom>
          <a:solidFill>
            <a:srgbClr val="2F969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46B12E3D-4741-A7C7-C2F5-DA4DCEC5C127}"/>
              </a:ext>
            </a:extLst>
          </p:cNvPr>
          <p:cNvSpPr/>
          <p:nvPr/>
        </p:nvSpPr>
        <p:spPr>
          <a:xfrm>
            <a:off x="1097280" y="400507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在職狀態</a:t>
            </a:r>
            <a:endParaRPr lang="en-US" sz="1400" dirty="0"/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FAB27695-A138-EC0F-B72B-3269275D4D36}"/>
              </a:ext>
            </a:extLst>
          </p:cNvPr>
          <p:cNvSpPr/>
          <p:nvPr/>
        </p:nvSpPr>
        <p:spPr>
          <a:xfrm>
            <a:off x="868680" y="4700016"/>
            <a:ext cx="82296" cy="82296"/>
          </a:xfrm>
          <a:prstGeom prst="ellipse">
            <a:avLst/>
          </a:prstGeom>
          <a:solidFill>
            <a:srgbClr val="2F969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DAD4AE82-51DA-8A08-9233-9F41D23877D4}"/>
              </a:ext>
            </a:extLst>
          </p:cNvPr>
          <p:cNvSpPr/>
          <p:nvPr/>
        </p:nvSpPr>
        <p:spPr>
          <a:xfrm>
            <a:off x="1097280" y="4535424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標準上下班時間</a:t>
            </a:r>
            <a:endParaRPr lang="en-US" sz="1400" dirty="0"/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79A1D512-8189-D393-FA83-AD6DCDD15E2D}"/>
              </a:ext>
            </a:extLst>
          </p:cNvPr>
          <p:cNvSpPr/>
          <p:nvPr/>
        </p:nvSpPr>
        <p:spPr>
          <a:xfrm>
            <a:off x="6035040" y="1828800"/>
            <a:ext cx="516636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2E6E5"/>
            </a:solidFill>
            <a:prstDash val="solid"/>
          </a:ln>
          <a:effectLst>
            <a:outerShdw blurRad="127000" dist="25400" dir="5400000" algn="bl" rotWithShape="0">
              <a:srgbClr val="07304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DE6C0CE0-8593-92C1-59FD-225D835436DF}"/>
              </a:ext>
            </a:extLst>
          </p:cNvPr>
          <p:cNvSpPr/>
          <p:nvPr/>
        </p:nvSpPr>
        <p:spPr>
          <a:xfrm>
            <a:off x="6035040" y="1828800"/>
            <a:ext cx="5166360" cy="868680"/>
          </a:xfrm>
          <a:prstGeom prst="roundRect">
            <a:avLst>
              <a:gd name="adj" fmla="val 10526"/>
            </a:avLst>
          </a:prstGeom>
          <a:solidFill>
            <a:srgbClr val="0730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18">
            <a:extLst>
              <a:ext uri="{FF2B5EF4-FFF2-40B4-BE49-F238E27FC236}">
                <a16:creationId xmlns:a16="http://schemas.microsoft.com/office/drawing/2014/main" id="{97C076A7-01CF-6B6A-36A1-D5DF6FCF3D8B}"/>
              </a:ext>
            </a:extLst>
          </p:cNvPr>
          <p:cNvSpPr/>
          <p:nvPr/>
        </p:nvSpPr>
        <p:spPr>
          <a:xfrm>
            <a:off x="6035040" y="2286000"/>
            <a:ext cx="5166360" cy="411480"/>
          </a:xfrm>
          <a:prstGeom prst="rect">
            <a:avLst/>
          </a:prstGeom>
          <a:solidFill>
            <a:srgbClr val="0730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19">
            <a:extLst>
              <a:ext uri="{FF2B5EF4-FFF2-40B4-BE49-F238E27FC236}">
                <a16:creationId xmlns:a16="http://schemas.microsoft.com/office/drawing/2014/main" id="{A6D96576-DA26-6E7D-3013-2ABE3ECB91A0}"/>
              </a:ext>
            </a:extLst>
          </p:cNvPr>
          <p:cNvSpPr/>
          <p:nvPr/>
        </p:nvSpPr>
        <p:spPr>
          <a:xfrm>
            <a:off x="6309360" y="1993392"/>
            <a:ext cx="548640" cy="548640"/>
          </a:xfrm>
          <a:prstGeom prst="ellipse">
            <a:avLst/>
          </a:prstGeom>
          <a:solidFill>
            <a:srgbClr val="2F9696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48" name="Image 1" descr="/home/claude/icons/clock_white.png">
            <a:extLst>
              <a:ext uri="{FF2B5EF4-FFF2-40B4-BE49-F238E27FC236}">
                <a16:creationId xmlns:a16="http://schemas.microsoft.com/office/drawing/2014/main" id="{42C8478C-B0F7-F155-6583-6AF2C19BD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006" y="2136038"/>
            <a:ext cx="263347" cy="263347"/>
          </a:xfrm>
          <a:prstGeom prst="rect">
            <a:avLst/>
          </a:prstGeom>
        </p:spPr>
      </p:pic>
      <p:sp>
        <p:nvSpPr>
          <p:cNvPr id="50" name="Text 20">
            <a:extLst>
              <a:ext uri="{FF2B5EF4-FFF2-40B4-BE49-F238E27FC236}">
                <a16:creationId xmlns:a16="http://schemas.microsoft.com/office/drawing/2014/main" id="{B0E0A2F4-7BCB-3C50-F8C8-2536FA628FA6}"/>
              </a:ext>
            </a:extLst>
          </p:cNvPr>
          <p:cNvSpPr/>
          <p:nvPr/>
        </p:nvSpPr>
        <p:spPr>
          <a:xfrm>
            <a:off x="6995160" y="1828800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打卡紀錄 App</a:t>
            </a:r>
            <a:endParaRPr lang="en-US" sz="1800" dirty="0"/>
          </a:p>
        </p:txBody>
      </p:sp>
      <p:sp>
        <p:nvSpPr>
          <p:cNvPr id="52" name="Shape 21">
            <a:extLst>
              <a:ext uri="{FF2B5EF4-FFF2-40B4-BE49-F238E27FC236}">
                <a16:creationId xmlns:a16="http://schemas.microsoft.com/office/drawing/2014/main" id="{6F968E21-BA45-BFBF-7B37-597ADE2DA8BF}"/>
              </a:ext>
            </a:extLst>
          </p:cNvPr>
          <p:cNvSpPr/>
          <p:nvPr/>
        </p:nvSpPr>
        <p:spPr>
          <a:xfrm>
            <a:off x="6355080" y="3108960"/>
            <a:ext cx="82296" cy="82296"/>
          </a:xfrm>
          <a:prstGeom prst="ellipse">
            <a:avLst/>
          </a:prstGeom>
          <a:solidFill>
            <a:srgbClr val="2F969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5" name="Text 22">
            <a:extLst>
              <a:ext uri="{FF2B5EF4-FFF2-40B4-BE49-F238E27FC236}">
                <a16:creationId xmlns:a16="http://schemas.microsoft.com/office/drawing/2014/main" id="{39E513A5-7C1A-94ED-6A64-0611E4147BDB}"/>
              </a:ext>
            </a:extLst>
          </p:cNvPr>
          <p:cNvSpPr/>
          <p:nvPr/>
        </p:nvSpPr>
        <p:spPr>
          <a:xfrm>
            <a:off x="6583680" y="2944368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員工編號、員工姓名</a:t>
            </a:r>
            <a:endParaRPr lang="en-US" sz="1400" dirty="0"/>
          </a:p>
        </p:txBody>
      </p:sp>
      <p:sp>
        <p:nvSpPr>
          <p:cNvPr id="59" name="Shape 23">
            <a:extLst>
              <a:ext uri="{FF2B5EF4-FFF2-40B4-BE49-F238E27FC236}">
                <a16:creationId xmlns:a16="http://schemas.microsoft.com/office/drawing/2014/main" id="{9D94906E-0630-AFCE-28D2-0C973245ECF8}"/>
              </a:ext>
            </a:extLst>
          </p:cNvPr>
          <p:cNvSpPr/>
          <p:nvPr/>
        </p:nvSpPr>
        <p:spPr>
          <a:xfrm>
            <a:off x="6355080" y="3639312"/>
            <a:ext cx="82296" cy="82296"/>
          </a:xfrm>
          <a:prstGeom prst="ellipse">
            <a:avLst/>
          </a:prstGeom>
          <a:solidFill>
            <a:srgbClr val="2F969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FB1EB2FA-3C39-D874-32ED-1C7CF5251EE1}"/>
              </a:ext>
            </a:extLst>
          </p:cNvPr>
          <p:cNvSpPr/>
          <p:nvPr/>
        </p:nvSpPr>
        <p:spPr>
          <a:xfrm>
            <a:off x="6583680" y="347472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上、下班打卡日期與時間</a:t>
            </a:r>
            <a:endParaRPr lang="en-US" sz="1400" dirty="0"/>
          </a:p>
        </p:txBody>
      </p:sp>
      <p:sp>
        <p:nvSpPr>
          <p:cNvPr id="67" name="Shape 25">
            <a:extLst>
              <a:ext uri="{FF2B5EF4-FFF2-40B4-BE49-F238E27FC236}">
                <a16:creationId xmlns:a16="http://schemas.microsoft.com/office/drawing/2014/main" id="{917A0A01-1CEA-DE0C-731D-3333160507C2}"/>
              </a:ext>
            </a:extLst>
          </p:cNvPr>
          <p:cNvSpPr/>
          <p:nvPr/>
        </p:nvSpPr>
        <p:spPr>
          <a:xfrm>
            <a:off x="6355080" y="4169664"/>
            <a:ext cx="82296" cy="82296"/>
          </a:xfrm>
          <a:prstGeom prst="ellipse">
            <a:avLst/>
          </a:prstGeom>
          <a:solidFill>
            <a:srgbClr val="2F969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1" name="Text 26">
            <a:extLst>
              <a:ext uri="{FF2B5EF4-FFF2-40B4-BE49-F238E27FC236}">
                <a16:creationId xmlns:a16="http://schemas.microsoft.com/office/drawing/2014/main" id="{BC08AD92-09FF-8DD4-4110-2336E60CFB2A}"/>
              </a:ext>
            </a:extLst>
          </p:cNvPr>
          <p:cNvSpPr/>
          <p:nvPr/>
        </p:nvSpPr>
        <p:spPr>
          <a:xfrm>
            <a:off x="6583680" y="400507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遲到、早退分鐘</a:t>
            </a:r>
            <a:endParaRPr lang="en-US" sz="1400" dirty="0"/>
          </a:p>
        </p:txBody>
      </p:sp>
      <p:sp>
        <p:nvSpPr>
          <p:cNvPr id="75" name="Shape 27">
            <a:extLst>
              <a:ext uri="{FF2B5EF4-FFF2-40B4-BE49-F238E27FC236}">
                <a16:creationId xmlns:a16="http://schemas.microsoft.com/office/drawing/2014/main" id="{8213A313-327B-836D-03AB-8E8CF34DCC3F}"/>
              </a:ext>
            </a:extLst>
          </p:cNvPr>
          <p:cNvSpPr/>
          <p:nvPr/>
        </p:nvSpPr>
        <p:spPr>
          <a:xfrm>
            <a:off x="6355080" y="4700016"/>
            <a:ext cx="82296" cy="82296"/>
          </a:xfrm>
          <a:prstGeom prst="ellipse">
            <a:avLst/>
          </a:prstGeom>
          <a:solidFill>
            <a:srgbClr val="2F969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9" name="Text 28">
            <a:extLst>
              <a:ext uri="{FF2B5EF4-FFF2-40B4-BE49-F238E27FC236}">
                <a16:creationId xmlns:a16="http://schemas.microsoft.com/office/drawing/2014/main" id="{F8F47B57-F0ED-C8D1-2812-D6AD97B2CFF3}"/>
              </a:ext>
            </a:extLst>
          </p:cNvPr>
          <p:cNvSpPr/>
          <p:nvPr/>
        </p:nvSpPr>
        <p:spPr>
          <a:xfrm>
            <a:off x="6583680" y="4535424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工作分鐘數</a:t>
            </a:r>
            <a:endParaRPr lang="en-US" sz="1400" dirty="0"/>
          </a:p>
        </p:txBody>
      </p:sp>
      <p:sp>
        <p:nvSpPr>
          <p:cNvPr id="83" name="Shape 29">
            <a:extLst>
              <a:ext uri="{FF2B5EF4-FFF2-40B4-BE49-F238E27FC236}">
                <a16:creationId xmlns:a16="http://schemas.microsoft.com/office/drawing/2014/main" id="{8D04BE85-DAE7-F019-B3DB-A91E27508673}"/>
              </a:ext>
            </a:extLst>
          </p:cNvPr>
          <p:cNvSpPr/>
          <p:nvPr/>
        </p:nvSpPr>
        <p:spPr>
          <a:xfrm>
            <a:off x="6355080" y="5230368"/>
            <a:ext cx="82296" cy="82296"/>
          </a:xfrm>
          <a:prstGeom prst="ellipse">
            <a:avLst/>
          </a:prstGeom>
          <a:solidFill>
            <a:srgbClr val="2F969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7" name="Text 30">
            <a:extLst>
              <a:ext uri="{FF2B5EF4-FFF2-40B4-BE49-F238E27FC236}">
                <a16:creationId xmlns:a16="http://schemas.microsoft.com/office/drawing/2014/main" id="{D2199C1A-8A5D-7E89-AFA4-B8A7A5ED8341}"/>
              </a:ext>
            </a:extLst>
          </p:cNvPr>
          <p:cNvSpPr/>
          <p:nvPr/>
        </p:nvSpPr>
        <p:spPr>
          <a:xfrm>
            <a:off x="6583680" y="5065776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出勤狀態</a:t>
            </a:r>
            <a:endParaRPr lang="en-US" sz="1400" dirty="0"/>
          </a:p>
        </p:txBody>
      </p:sp>
      <p:sp>
        <p:nvSpPr>
          <p:cNvPr id="91" name="Text 31">
            <a:extLst>
              <a:ext uri="{FF2B5EF4-FFF2-40B4-BE49-F238E27FC236}">
                <a16:creationId xmlns:a16="http://schemas.microsoft.com/office/drawing/2014/main" id="{A5B2893F-62FF-7E4E-17F8-CE7E11ABD02A}"/>
              </a:ext>
            </a:extLst>
          </p:cNvPr>
          <p:cNvSpPr/>
          <p:nvPr/>
        </p:nvSpPr>
        <p:spPr>
          <a:xfrm>
            <a:off x="548640" y="5760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每人每天一筆（upsert）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914300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EF3D5-A15F-3BA4-61E5-627B2DFA6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F40FCC0-625B-95FC-A9EE-A43D33BD0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B7D7-A615-4EBC-AC00-85E88FB77C47}" type="slidenum">
              <a:rPr lang="zh-TW" alt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fld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9990D4E1-197C-ACE6-35B2-3D9547D7EC14}"/>
              </a:ext>
            </a:extLst>
          </p:cNvPr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9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 · KINTONE APP 建置</a:t>
            </a:r>
            <a:endParaRPr lang="en-US" sz="12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998EEB4F-2849-FE76-CA6D-4A76A8D8CB17}"/>
              </a:ext>
            </a:extLst>
          </p:cNvPr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員工主檔 App</a:t>
            </a:r>
            <a:endParaRPr lang="en-US" sz="28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64EFBC37-6157-A310-6217-5622D60A5B7B}"/>
              </a:ext>
            </a:extLst>
          </p:cNvPr>
          <p:cNvSpPr/>
          <p:nvPr/>
        </p:nvSpPr>
        <p:spPr>
          <a:xfrm>
            <a:off x="10424160" y="502920"/>
            <a:ext cx="502920" cy="502920"/>
          </a:xfrm>
          <a:prstGeom prst="ellipse">
            <a:avLst/>
          </a:prstGeom>
          <a:solidFill>
            <a:srgbClr val="DFF0EE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2" name="Image 0" descr="/home/claude/icons/person_navy.png">
            <a:extLst>
              <a:ext uri="{FF2B5EF4-FFF2-40B4-BE49-F238E27FC236}">
                <a16:creationId xmlns:a16="http://schemas.microsoft.com/office/drawing/2014/main" id="{24D3ECFD-378E-9AD3-36F1-F2449ACD9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919" y="633679"/>
            <a:ext cx="241402" cy="241402"/>
          </a:xfrm>
          <a:prstGeom prst="rect">
            <a:avLst/>
          </a:prstGeom>
        </p:spPr>
      </p:pic>
      <p:sp>
        <p:nvSpPr>
          <p:cNvPr id="16" name="Shape 3">
            <a:extLst>
              <a:ext uri="{FF2B5EF4-FFF2-40B4-BE49-F238E27FC236}">
                <a16:creationId xmlns:a16="http://schemas.microsoft.com/office/drawing/2014/main" id="{028A8C68-3834-E575-187B-79B2DEC98C07}"/>
              </a:ext>
            </a:extLst>
          </p:cNvPr>
          <p:cNvSpPr/>
          <p:nvPr/>
        </p:nvSpPr>
        <p:spPr>
          <a:xfrm>
            <a:off x="548640" y="1600200"/>
            <a:ext cx="11064240" cy="411480"/>
          </a:xfrm>
          <a:prstGeom prst="rect">
            <a:avLst/>
          </a:prstGeom>
          <a:solidFill>
            <a:srgbClr val="0730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8BB8DD20-4A7C-1696-0A98-C761511984EF}"/>
              </a:ext>
            </a:extLst>
          </p:cNvPr>
          <p:cNvSpPr/>
          <p:nvPr/>
        </p:nvSpPr>
        <p:spPr>
          <a:xfrm>
            <a:off x="548640" y="1600200"/>
            <a:ext cx="2377440" cy="4114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欄位（預設名稱）</a:t>
            </a:r>
            <a:endParaRPr lang="en-US" sz="12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41F9F1D3-8021-600A-5152-7771BFAECCFF}"/>
              </a:ext>
            </a:extLst>
          </p:cNvPr>
          <p:cNvSpPr/>
          <p:nvPr/>
        </p:nvSpPr>
        <p:spPr>
          <a:xfrm>
            <a:off x="2926080" y="1600200"/>
            <a:ext cx="1920240" cy="4114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類型</a:t>
            </a:r>
            <a:endParaRPr lang="en-US" sz="12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5192764B-26E7-E94E-EA8D-554665C4D2C4}"/>
              </a:ext>
            </a:extLst>
          </p:cNvPr>
          <p:cNvSpPr/>
          <p:nvPr/>
        </p:nvSpPr>
        <p:spPr>
          <a:xfrm>
            <a:off x="4846320" y="1600200"/>
            <a:ext cx="6766560" cy="4114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</a:t>
            </a:r>
            <a:endParaRPr lang="en-US" sz="1200" dirty="0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5C4B6319-7ACF-F9DB-99AB-7A873D029153}"/>
              </a:ext>
            </a:extLst>
          </p:cNvPr>
          <p:cNvSpPr/>
          <p:nvPr/>
        </p:nvSpPr>
        <p:spPr>
          <a:xfrm>
            <a:off x="548640" y="2011680"/>
            <a:ext cx="110642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7C16EBBD-C901-B02F-E1F1-8C026CF9C4BC}"/>
              </a:ext>
            </a:extLst>
          </p:cNvPr>
          <p:cNvSpPr/>
          <p:nvPr/>
        </p:nvSpPr>
        <p:spPr>
          <a:xfrm>
            <a:off x="548640" y="2011680"/>
            <a:ext cx="237744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員工編號</a:t>
            </a:r>
            <a:endParaRPr lang="en-US" sz="12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7709515E-9738-B4C1-94FB-B6A8C04AB156}"/>
              </a:ext>
            </a:extLst>
          </p:cNvPr>
          <p:cNvSpPr/>
          <p:nvPr/>
        </p:nvSpPr>
        <p:spPr>
          <a:xfrm>
            <a:off x="2926080" y="2011680"/>
            <a:ext cx="192024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文字字串（單行）</a:t>
            </a:r>
            <a:endParaRPr lang="en-US" sz="1200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F12A95AE-47B3-FC90-1A9D-82C97650B2AA}"/>
              </a:ext>
            </a:extLst>
          </p:cNvPr>
          <p:cNvSpPr/>
          <p:nvPr/>
        </p:nvSpPr>
        <p:spPr>
          <a:xfrm>
            <a:off x="4846320" y="2011680"/>
            <a:ext cx="67665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可使用「自動編號外掛」輔助，綁定打卡功能的唯一識別碼</a:t>
            </a:r>
            <a:endParaRPr lang="en-US" sz="1200" dirty="0"/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5D8AFBC1-F51C-C664-777D-0ED14AD0898F}"/>
              </a:ext>
            </a:extLst>
          </p:cNvPr>
          <p:cNvSpPr/>
          <p:nvPr/>
        </p:nvSpPr>
        <p:spPr>
          <a:xfrm>
            <a:off x="548640" y="2523744"/>
            <a:ext cx="11064240" cy="512064"/>
          </a:xfrm>
          <a:prstGeom prst="rect">
            <a:avLst/>
          </a:prstGeom>
          <a:solidFill>
            <a:srgbClr val="F4F1EC"/>
          </a:solidFill>
          <a:ln w="9525">
            <a:solidFill>
              <a:srgbClr val="E2E6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6C77C613-D862-29AA-15F1-3A16AF5E53F8}"/>
              </a:ext>
            </a:extLst>
          </p:cNvPr>
          <p:cNvSpPr/>
          <p:nvPr/>
        </p:nvSpPr>
        <p:spPr>
          <a:xfrm>
            <a:off x="548640" y="2523744"/>
            <a:ext cx="237744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員工姓名</a:t>
            </a:r>
            <a:endParaRPr lang="en-US" sz="120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E64B29B5-3F5A-1DF5-F8B0-810F9AE6A4CB}"/>
              </a:ext>
            </a:extLst>
          </p:cNvPr>
          <p:cNvSpPr/>
          <p:nvPr/>
        </p:nvSpPr>
        <p:spPr>
          <a:xfrm>
            <a:off x="2926080" y="2523744"/>
            <a:ext cx="192024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文字字串（單行）</a:t>
            </a:r>
            <a:endParaRPr lang="en-US" sz="1200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B088FCBF-745F-ACE3-32B0-6EF19FFCB7C1}"/>
              </a:ext>
            </a:extLst>
          </p:cNvPr>
          <p:cNvSpPr/>
          <p:nvPr/>
        </p:nvSpPr>
        <p:spPr>
          <a:xfrm>
            <a:off x="4846320" y="2523744"/>
            <a:ext cx="67665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顯示於打卡頁面的姓名</a:t>
            </a:r>
            <a:endParaRPr lang="en-US" sz="1200" dirty="0"/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F042E7EF-BCA0-050C-26BD-780A685ADD14}"/>
              </a:ext>
            </a:extLst>
          </p:cNvPr>
          <p:cNvSpPr/>
          <p:nvPr/>
        </p:nvSpPr>
        <p:spPr>
          <a:xfrm>
            <a:off x="548640" y="3035808"/>
            <a:ext cx="110642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36DC7F8A-3B3F-D4CB-B965-CB7D9F1C6C0D}"/>
              </a:ext>
            </a:extLst>
          </p:cNvPr>
          <p:cNvSpPr/>
          <p:nvPr/>
        </p:nvSpPr>
        <p:spPr>
          <a:xfrm>
            <a:off x="548640" y="3035808"/>
            <a:ext cx="237744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員工LINE帳號</a:t>
            </a:r>
            <a:endParaRPr lang="en-US" sz="1200" dirty="0"/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15F11174-93AC-CEF6-11E3-3147DD2B975A}"/>
              </a:ext>
            </a:extLst>
          </p:cNvPr>
          <p:cNvSpPr/>
          <p:nvPr/>
        </p:nvSpPr>
        <p:spPr>
          <a:xfrm>
            <a:off x="2926080" y="3035808"/>
            <a:ext cx="192024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文字字串（單行）</a:t>
            </a:r>
            <a:endParaRPr lang="en-US" sz="120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15557360-58F8-8FDE-4832-58C1ED0A2C53}"/>
              </a:ext>
            </a:extLst>
          </p:cNvPr>
          <p:cNvSpPr/>
          <p:nvPr/>
        </p:nvSpPr>
        <p:spPr>
          <a:xfrm>
            <a:off x="4846320" y="3035808"/>
            <a:ext cx="67665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綁定前留空，綁定後寫入 LINE userId</a:t>
            </a:r>
            <a:endParaRPr lang="en-US" sz="1200" dirty="0"/>
          </a:p>
        </p:txBody>
      </p:sp>
      <p:sp>
        <p:nvSpPr>
          <p:cNvPr id="49" name="Shape 19">
            <a:extLst>
              <a:ext uri="{FF2B5EF4-FFF2-40B4-BE49-F238E27FC236}">
                <a16:creationId xmlns:a16="http://schemas.microsoft.com/office/drawing/2014/main" id="{94D61AE1-229F-3B70-FA11-4074D333A86A}"/>
              </a:ext>
            </a:extLst>
          </p:cNvPr>
          <p:cNvSpPr/>
          <p:nvPr/>
        </p:nvSpPr>
        <p:spPr>
          <a:xfrm>
            <a:off x="548640" y="3547872"/>
            <a:ext cx="11064240" cy="512064"/>
          </a:xfrm>
          <a:prstGeom prst="rect">
            <a:avLst/>
          </a:prstGeom>
          <a:solidFill>
            <a:srgbClr val="F4F1EC"/>
          </a:solidFill>
          <a:ln w="9525">
            <a:solidFill>
              <a:srgbClr val="E2E6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A786BF6D-7ABD-7B20-72EC-4C6402662C00}"/>
              </a:ext>
            </a:extLst>
          </p:cNvPr>
          <p:cNvSpPr/>
          <p:nvPr/>
        </p:nvSpPr>
        <p:spPr>
          <a:xfrm>
            <a:off x="548640" y="3547872"/>
            <a:ext cx="237744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在職狀態</a:t>
            </a:r>
            <a:endParaRPr lang="en-US" sz="1200" dirty="0"/>
          </a:p>
        </p:txBody>
      </p:sp>
      <p:sp>
        <p:nvSpPr>
          <p:cNvPr id="53" name="Text 21">
            <a:extLst>
              <a:ext uri="{FF2B5EF4-FFF2-40B4-BE49-F238E27FC236}">
                <a16:creationId xmlns:a16="http://schemas.microsoft.com/office/drawing/2014/main" id="{0E38CD7A-9A64-0E87-843C-F1F9E8F071B4}"/>
              </a:ext>
            </a:extLst>
          </p:cNvPr>
          <p:cNvSpPr/>
          <p:nvPr/>
        </p:nvSpPr>
        <p:spPr>
          <a:xfrm>
            <a:off x="2926080" y="3547872"/>
            <a:ext cx="192024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下拉選單</a:t>
            </a:r>
            <a:endParaRPr lang="en-US" sz="1200" dirty="0"/>
          </a:p>
        </p:txBody>
      </p:sp>
      <p:sp>
        <p:nvSpPr>
          <p:cNvPr id="55" name="Text 22">
            <a:extLst>
              <a:ext uri="{FF2B5EF4-FFF2-40B4-BE49-F238E27FC236}">
                <a16:creationId xmlns:a16="http://schemas.microsoft.com/office/drawing/2014/main" id="{2E51397B-FE20-4752-1F40-698828D9D6EE}"/>
              </a:ext>
            </a:extLst>
          </p:cNvPr>
          <p:cNvSpPr/>
          <p:nvPr/>
        </p:nvSpPr>
        <p:spPr>
          <a:xfrm>
            <a:off x="4846320" y="3547872"/>
            <a:ext cx="67665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>
              <a:lnSpc>
                <a:spcPct val="115000"/>
              </a:lnSpc>
            </a:pPr>
            <a:r>
              <a:rPr lang="en-US" sz="1200" dirty="0" err="1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選項需包含「在職</a:t>
            </a: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」</a:t>
            </a:r>
            <a:r>
              <a:rPr lang="zh-TW" alt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、</a:t>
            </a:r>
            <a:r>
              <a:rPr lang="en-US" altLang="zh-TW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</a:t>
            </a:r>
            <a:r>
              <a:rPr lang="zh-TW" alt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離職</a:t>
            </a:r>
            <a:r>
              <a:rPr lang="en-US" altLang="zh-TW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」</a:t>
            </a:r>
            <a:r>
              <a:rPr lang="zh-TW" alt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</a:t>
            </a:r>
            <a:r>
              <a:rPr lang="en-US" sz="1200" dirty="0" err="1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離職時打卡會被擋下</a:t>
            </a:r>
            <a:endParaRPr lang="en-US" sz="12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5CE9CA5A-9387-058D-9BF8-F5DDEDE3AF2E}"/>
              </a:ext>
            </a:extLst>
          </p:cNvPr>
          <p:cNvSpPr/>
          <p:nvPr/>
        </p:nvSpPr>
        <p:spPr>
          <a:xfrm>
            <a:off x="548640" y="4059936"/>
            <a:ext cx="110642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Text 24">
            <a:extLst>
              <a:ext uri="{FF2B5EF4-FFF2-40B4-BE49-F238E27FC236}">
                <a16:creationId xmlns:a16="http://schemas.microsoft.com/office/drawing/2014/main" id="{8F7B0958-2E86-D595-582D-C72987525AA5}"/>
              </a:ext>
            </a:extLst>
          </p:cNvPr>
          <p:cNvSpPr/>
          <p:nvPr/>
        </p:nvSpPr>
        <p:spPr>
          <a:xfrm>
            <a:off x="548640" y="4059936"/>
            <a:ext cx="237744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標準上班時間</a:t>
            </a:r>
            <a:endParaRPr lang="en-US" sz="1200" dirty="0"/>
          </a:p>
        </p:txBody>
      </p:sp>
      <p:sp>
        <p:nvSpPr>
          <p:cNvPr id="61" name="Text 25">
            <a:extLst>
              <a:ext uri="{FF2B5EF4-FFF2-40B4-BE49-F238E27FC236}">
                <a16:creationId xmlns:a16="http://schemas.microsoft.com/office/drawing/2014/main" id="{208D0ED6-C4FC-CAD9-8979-87A1BDDBDD21}"/>
              </a:ext>
            </a:extLst>
          </p:cNvPr>
          <p:cNvSpPr/>
          <p:nvPr/>
        </p:nvSpPr>
        <p:spPr>
          <a:xfrm>
            <a:off x="2926080" y="4059936"/>
            <a:ext cx="192024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</a:t>
            </a:r>
            <a:endParaRPr lang="en-US" sz="1200" dirty="0"/>
          </a:p>
        </p:txBody>
      </p:sp>
      <p:sp>
        <p:nvSpPr>
          <p:cNvPr id="63" name="Text 26">
            <a:extLst>
              <a:ext uri="{FF2B5EF4-FFF2-40B4-BE49-F238E27FC236}">
                <a16:creationId xmlns:a16="http://schemas.microsoft.com/office/drawing/2014/main" id="{6EF1B1D7-5FF6-883D-64FF-ED71BA0958EC}"/>
              </a:ext>
            </a:extLst>
          </p:cNvPr>
          <p:cNvSpPr/>
          <p:nvPr/>
        </p:nvSpPr>
        <p:spPr>
          <a:xfrm>
            <a:off x="4846320" y="4059936"/>
            <a:ext cx="67665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用於判斷是否打卡異常，標準上班時間以前會傳送打卡提醒</a:t>
            </a:r>
            <a:endParaRPr lang="en-US" sz="1200" dirty="0"/>
          </a:p>
        </p:txBody>
      </p:sp>
      <p:sp>
        <p:nvSpPr>
          <p:cNvPr id="65" name="Shape 27">
            <a:extLst>
              <a:ext uri="{FF2B5EF4-FFF2-40B4-BE49-F238E27FC236}">
                <a16:creationId xmlns:a16="http://schemas.microsoft.com/office/drawing/2014/main" id="{FE472FEE-9933-DBE6-CDD2-B150A3D50C9A}"/>
              </a:ext>
            </a:extLst>
          </p:cNvPr>
          <p:cNvSpPr/>
          <p:nvPr/>
        </p:nvSpPr>
        <p:spPr>
          <a:xfrm>
            <a:off x="548640" y="4572000"/>
            <a:ext cx="11064240" cy="512064"/>
          </a:xfrm>
          <a:prstGeom prst="rect">
            <a:avLst/>
          </a:prstGeom>
          <a:solidFill>
            <a:srgbClr val="F4F1EC"/>
          </a:solidFill>
          <a:ln w="9525">
            <a:solidFill>
              <a:srgbClr val="E2E6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Text 28">
            <a:extLst>
              <a:ext uri="{FF2B5EF4-FFF2-40B4-BE49-F238E27FC236}">
                <a16:creationId xmlns:a16="http://schemas.microsoft.com/office/drawing/2014/main" id="{C370E262-EB0D-E682-C355-218A242064CE}"/>
              </a:ext>
            </a:extLst>
          </p:cNvPr>
          <p:cNvSpPr/>
          <p:nvPr/>
        </p:nvSpPr>
        <p:spPr>
          <a:xfrm>
            <a:off x="548640" y="4572000"/>
            <a:ext cx="237744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標準下班時間</a:t>
            </a:r>
            <a:endParaRPr lang="en-US" sz="1200" dirty="0"/>
          </a:p>
        </p:txBody>
      </p:sp>
      <p:sp>
        <p:nvSpPr>
          <p:cNvPr id="69" name="Text 29">
            <a:extLst>
              <a:ext uri="{FF2B5EF4-FFF2-40B4-BE49-F238E27FC236}">
                <a16:creationId xmlns:a16="http://schemas.microsoft.com/office/drawing/2014/main" id="{41F96A14-52C8-2F4F-84CB-07C69C82B4C2}"/>
              </a:ext>
            </a:extLst>
          </p:cNvPr>
          <p:cNvSpPr/>
          <p:nvPr/>
        </p:nvSpPr>
        <p:spPr>
          <a:xfrm>
            <a:off x="2926080" y="4572000"/>
            <a:ext cx="192024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</a:t>
            </a:r>
            <a:endParaRPr lang="en-US" sz="1200" dirty="0"/>
          </a:p>
        </p:txBody>
      </p:sp>
      <p:sp>
        <p:nvSpPr>
          <p:cNvPr id="71" name="Text 30">
            <a:extLst>
              <a:ext uri="{FF2B5EF4-FFF2-40B4-BE49-F238E27FC236}">
                <a16:creationId xmlns:a16="http://schemas.microsoft.com/office/drawing/2014/main" id="{F98F2F54-7708-ABF9-65F9-F3EBFD710C82}"/>
              </a:ext>
            </a:extLst>
          </p:cNvPr>
          <p:cNvSpPr/>
          <p:nvPr/>
        </p:nvSpPr>
        <p:spPr>
          <a:xfrm>
            <a:off x="4846320" y="4572000"/>
            <a:ext cx="67665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用於判斷是否打卡異常，標準下班時間以後會傳送打卡提醒</a:t>
            </a:r>
            <a:endParaRPr lang="en-US" sz="12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801C3837-36D3-3282-72D9-BBAD43755E69}"/>
              </a:ext>
            </a:extLst>
          </p:cNvPr>
          <p:cNvSpPr/>
          <p:nvPr/>
        </p:nvSpPr>
        <p:spPr>
          <a:xfrm>
            <a:off x="548640" y="522122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105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欄位</a:t>
            </a:r>
            <a:r>
              <a:rPr lang="en-US" sz="1050" i="1" dirty="0" err="1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對應更新</a:t>
            </a:r>
            <a:r>
              <a:rPr lang="en-US" sz="105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GAS 程式碼中的 FIELDS.master 設定物件；選項文字（如「在職」）則對應 VALUES 設定物件。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682337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26A2AFA-30A0-8560-B69A-D152120AA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B7D7-A615-4EBC-AC00-85E88FB77C47}" type="slidenum">
              <a:rPr lang="zh-TW" alt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fld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8BFD1D24-254A-0383-A008-6458D1B18FCC}"/>
              </a:ext>
            </a:extLst>
          </p:cNvPr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9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 · KINTONE APP 建置</a:t>
            </a:r>
            <a:endParaRPr lang="en-US" sz="12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B7CE9B26-6C5D-57ED-59BF-B4F4C4036867}"/>
              </a:ext>
            </a:extLst>
          </p:cNvPr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打卡紀錄 App</a:t>
            </a:r>
            <a:endParaRPr lang="en-US" sz="28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783B0BFD-6B9B-541A-2FB8-F678EF3252E5}"/>
              </a:ext>
            </a:extLst>
          </p:cNvPr>
          <p:cNvSpPr/>
          <p:nvPr/>
        </p:nvSpPr>
        <p:spPr>
          <a:xfrm>
            <a:off x="10424160" y="502920"/>
            <a:ext cx="502920" cy="502920"/>
          </a:xfrm>
          <a:prstGeom prst="ellipse">
            <a:avLst/>
          </a:prstGeom>
          <a:solidFill>
            <a:srgbClr val="DFF0EE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2" name="Image 0" descr="/home/claude/icons/clock_navy.png">
            <a:extLst>
              <a:ext uri="{FF2B5EF4-FFF2-40B4-BE49-F238E27FC236}">
                <a16:creationId xmlns:a16="http://schemas.microsoft.com/office/drawing/2014/main" id="{BC46FF76-D785-F13C-564B-2B78B4EB5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919" y="633679"/>
            <a:ext cx="241402" cy="241402"/>
          </a:xfrm>
          <a:prstGeom prst="rect">
            <a:avLst/>
          </a:prstGeom>
        </p:spPr>
      </p:pic>
      <p:sp>
        <p:nvSpPr>
          <p:cNvPr id="16" name="Shape 3">
            <a:extLst>
              <a:ext uri="{FF2B5EF4-FFF2-40B4-BE49-F238E27FC236}">
                <a16:creationId xmlns:a16="http://schemas.microsoft.com/office/drawing/2014/main" id="{6A3643C5-D349-A28E-75B2-D475B02327B2}"/>
              </a:ext>
            </a:extLst>
          </p:cNvPr>
          <p:cNvSpPr/>
          <p:nvPr/>
        </p:nvSpPr>
        <p:spPr>
          <a:xfrm>
            <a:off x="548640" y="1600200"/>
            <a:ext cx="11064240" cy="411480"/>
          </a:xfrm>
          <a:prstGeom prst="rect">
            <a:avLst/>
          </a:prstGeom>
          <a:solidFill>
            <a:srgbClr val="0730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BA321575-E56F-B4C0-DE88-CFB68DB3CC1B}"/>
              </a:ext>
            </a:extLst>
          </p:cNvPr>
          <p:cNvSpPr/>
          <p:nvPr/>
        </p:nvSpPr>
        <p:spPr>
          <a:xfrm>
            <a:off x="548640" y="1600200"/>
            <a:ext cx="2377440" cy="4114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欄位（預設名稱）</a:t>
            </a:r>
            <a:endParaRPr lang="en-US" sz="12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072C2043-12A7-D673-E298-FAA9D2107187}"/>
              </a:ext>
            </a:extLst>
          </p:cNvPr>
          <p:cNvSpPr/>
          <p:nvPr/>
        </p:nvSpPr>
        <p:spPr>
          <a:xfrm>
            <a:off x="2926080" y="1600200"/>
            <a:ext cx="1920240" cy="4114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類型</a:t>
            </a:r>
            <a:endParaRPr lang="en-US" sz="12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0FAAED8B-71BB-0BD1-E09F-5A118768624C}"/>
              </a:ext>
            </a:extLst>
          </p:cNvPr>
          <p:cNvSpPr/>
          <p:nvPr/>
        </p:nvSpPr>
        <p:spPr>
          <a:xfrm>
            <a:off x="4846320" y="1600200"/>
            <a:ext cx="6766560" cy="4114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</a:t>
            </a:r>
            <a:endParaRPr lang="en-US" sz="1200" dirty="0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1318F83C-1ECA-CB9A-26E4-DAE57CE6B93E}"/>
              </a:ext>
            </a:extLst>
          </p:cNvPr>
          <p:cNvSpPr/>
          <p:nvPr/>
        </p:nvSpPr>
        <p:spPr>
          <a:xfrm>
            <a:off x="548640" y="2011680"/>
            <a:ext cx="110642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A48F086B-E967-EDF8-E96F-13C5B96CBDF9}"/>
              </a:ext>
            </a:extLst>
          </p:cNvPr>
          <p:cNvSpPr/>
          <p:nvPr/>
        </p:nvSpPr>
        <p:spPr>
          <a:xfrm>
            <a:off x="548640" y="2011680"/>
            <a:ext cx="237744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員工編號</a:t>
            </a:r>
            <a:endParaRPr lang="en-US" sz="12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5CA72776-6105-840B-29C2-196F294FE2B5}"/>
              </a:ext>
            </a:extLst>
          </p:cNvPr>
          <p:cNvSpPr/>
          <p:nvPr/>
        </p:nvSpPr>
        <p:spPr>
          <a:xfrm>
            <a:off x="2926080" y="2011680"/>
            <a:ext cx="192024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欄位</a:t>
            </a:r>
            <a:endParaRPr lang="en-US" sz="1200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34F3EA0B-4303-9580-5F69-C03D91A50CC6}"/>
              </a:ext>
            </a:extLst>
          </p:cNvPr>
          <p:cNvSpPr/>
          <p:nvPr/>
        </p:nvSpPr>
        <p:spPr>
          <a:xfrm>
            <a:off x="4846320" y="2011680"/>
            <a:ext cx="67665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對應員工主檔 App 的員工編號</a:t>
            </a:r>
            <a:endParaRPr lang="en-US" sz="1200" dirty="0"/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0CEE0ECF-478D-4DBA-6AF6-8215062BA222}"/>
              </a:ext>
            </a:extLst>
          </p:cNvPr>
          <p:cNvSpPr/>
          <p:nvPr/>
        </p:nvSpPr>
        <p:spPr>
          <a:xfrm>
            <a:off x="548640" y="2523744"/>
            <a:ext cx="11064240" cy="512064"/>
          </a:xfrm>
          <a:prstGeom prst="rect">
            <a:avLst/>
          </a:prstGeom>
          <a:solidFill>
            <a:srgbClr val="F4F1EC"/>
          </a:solidFill>
          <a:ln w="9525">
            <a:solidFill>
              <a:srgbClr val="E2E6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8B9A4EBC-F5E7-8A19-B743-0EB0331732C6}"/>
              </a:ext>
            </a:extLst>
          </p:cNvPr>
          <p:cNvSpPr/>
          <p:nvPr/>
        </p:nvSpPr>
        <p:spPr>
          <a:xfrm>
            <a:off x="548640" y="2523744"/>
            <a:ext cx="237744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上班打卡、下班打卡</a:t>
            </a:r>
            <a:endParaRPr lang="en-US" sz="120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80985590-12C6-5DF7-16E5-2B4D36DC35BF}"/>
              </a:ext>
            </a:extLst>
          </p:cNvPr>
          <p:cNvSpPr/>
          <p:nvPr/>
        </p:nvSpPr>
        <p:spPr>
          <a:xfrm>
            <a:off x="2926080" y="2523744"/>
            <a:ext cx="192024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日期時間</a:t>
            </a:r>
            <a:endParaRPr lang="en-US" sz="1200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1BC9E3FC-2632-923E-D83F-ECCD46A2F0AC}"/>
              </a:ext>
            </a:extLst>
          </p:cNvPr>
          <p:cNvSpPr/>
          <p:nvPr/>
        </p:nvSpPr>
        <p:spPr>
          <a:xfrm>
            <a:off x="4846320" y="2523744"/>
            <a:ext cx="67665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實際打卡時間戳記，用於同日防重複打卡判斷</a:t>
            </a:r>
            <a:endParaRPr lang="en-US" sz="1200" dirty="0"/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1650E862-98C3-0302-5CD5-ECD92F283EF0}"/>
              </a:ext>
            </a:extLst>
          </p:cNvPr>
          <p:cNvSpPr/>
          <p:nvPr/>
        </p:nvSpPr>
        <p:spPr>
          <a:xfrm>
            <a:off x="548640" y="3035808"/>
            <a:ext cx="11064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87AA2370-58DF-0E6A-0FAD-C217CDCF97F4}"/>
              </a:ext>
            </a:extLst>
          </p:cNvPr>
          <p:cNvSpPr/>
          <p:nvPr/>
        </p:nvSpPr>
        <p:spPr>
          <a:xfrm>
            <a:off x="548640" y="3035808"/>
            <a:ext cx="2377440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出勤狀態</a:t>
            </a:r>
            <a:endParaRPr lang="en-US" sz="1200" dirty="0"/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D22A1F33-5742-381A-DFC3-612C1C31054D}"/>
              </a:ext>
            </a:extLst>
          </p:cNvPr>
          <p:cNvSpPr/>
          <p:nvPr/>
        </p:nvSpPr>
        <p:spPr>
          <a:xfrm>
            <a:off x="2926080" y="3035808"/>
            <a:ext cx="1920240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下拉式選單</a:t>
            </a:r>
            <a:endParaRPr lang="en-US" sz="120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1CC4F38A-2512-74FB-21FE-C6486315A1EC}"/>
              </a:ext>
            </a:extLst>
          </p:cNvPr>
          <p:cNvSpPr/>
          <p:nvPr/>
        </p:nvSpPr>
        <p:spPr>
          <a:xfrm>
            <a:off x="4846320" y="3035808"/>
            <a:ext cx="6766560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>
              <a:lnSpc>
                <a:spcPct val="115000"/>
              </a:lnSpc>
            </a:pPr>
            <a:r>
              <a:rPr lang="en-US" altLang="zh-TW" sz="1200" dirty="0" err="1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選項需包含</a:t>
            </a:r>
            <a:r>
              <a:rPr lang="zh-TW" alt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「正常」 、 「遲到」 、 「早退」 、 「遲到早退」 ，</a:t>
            </a:r>
            <a:r>
              <a:rPr lang="en-US" sz="1200" dirty="0" err="1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與員工主檔</a:t>
            </a: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 </a:t>
            </a:r>
            <a:r>
              <a:rPr lang="en-US" sz="1200" dirty="0" err="1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中的標準上下班時間比對</a:t>
            </a:r>
            <a:endParaRPr lang="en-US" sz="1200" dirty="0"/>
          </a:p>
        </p:txBody>
      </p:sp>
      <p:sp>
        <p:nvSpPr>
          <p:cNvPr id="49" name="Shape 19">
            <a:extLst>
              <a:ext uri="{FF2B5EF4-FFF2-40B4-BE49-F238E27FC236}">
                <a16:creationId xmlns:a16="http://schemas.microsoft.com/office/drawing/2014/main" id="{1FC4E007-4F23-E985-77A1-04495B5F1864}"/>
              </a:ext>
            </a:extLst>
          </p:cNvPr>
          <p:cNvSpPr/>
          <p:nvPr/>
        </p:nvSpPr>
        <p:spPr>
          <a:xfrm>
            <a:off x="548640" y="3767328"/>
            <a:ext cx="11064240" cy="512064"/>
          </a:xfrm>
          <a:prstGeom prst="rect">
            <a:avLst/>
          </a:prstGeom>
          <a:solidFill>
            <a:srgbClr val="F4F1EC"/>
          </a:solidFill>
          <a:ln w="9525">
            <a:solidFill>
              <a:srgbClr val="E2E6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5A2B1DBE-5865-12E3-C8B3-F6DB6784617A}"/>
              </a:ext>
            </a:extLst>
          </p:cNvPr>
          <p:cNvSpPr/>
          <p:nvPr/>
        </p:nvSpPr>
        <p:spPr>
          <a:xfrm>
            <a:off x="548640" y="3767328"/>
            <a:ext cx="237744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 err="1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遲到分鐘、早退分鐘</a:t>
            </a:r>
            <a:endParaRPr lang="en-US" sz="1200" dirty="0"/>
          </a:p>
        </p:txBody>
      </p:sp>
      <p:sp>
        <p:nvSpPr>
          <p:cNvPr id="53" name="Text 21">
            <a:extLst>
              <a:ext uri="{FF2B5EF4-FFF2-40B4-BE49-F238E27FC236}">
                <a16:creationId xmlns:a16="http://schemas.microsoft.com/office/drawing/2014/main" id="{78567C7E-E328-7812-0FD6-10A2FDC3D97B}"/>
              </a:ext>
            </a:extLst>
          </p:cNvPr>
          <p:cNvSpPr/>
          <p:nvPr/>
        </p:nvSpPr>
        <p:spPr>
          <a:xfrm>
            <a:off x="2926080" y="3767328"/>
            <a:ext cx="192024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數值</a:t>
            </a:r>
            <a:endParaRPr lang="en-US" sz="1200" dirty="0"/>
          </a:p>
        </p:txBody>
      </p:sp>
      <p:sp>
        <p:nvSpPr>
          <p:cNvPr id="55" name="Text 22">
            <a:extLst>
              <a:ext uri="{FF2B5EF4-FFF2-40B4-BE49-F238E27FC236}">
                <a16:creationId xmlns:a16="http://schemas.microsoft.com/office/drawing/2014/main" id="{5712D942-5BC0-0CA0-5A0D-176EEE3F5C49}"/>
              </a:ext>
            </a:extLst>
          </p:cNvPr>
          <p:cNvSpPr/>
          <p:nvPr/>
        </p:nvSpPr>
        <p:spPr>
          <a:xfrm>
            <a:off x="4846320" y="3767328"/>
            <a:ext cx="67665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如有打卡異常，自動計算時間</a:t>
            </a:r>
            <a:endParaRPr lang="en-US" sz="12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759D0A17-F0FD-AB6B-1C83-15142D6AC8E2}"/>
              </a:ext>
            </a:extLst>
          </p:cNvPr>
          <p:cNvSpPr/>
          <p:nvPr/>
        </p:nvSpPr>
        <p:spPr>
          <a:xfrm>
            <a:off x="548640" y="4279392"/>
            <a:ext cx="110642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Text 24">
            <a:extLst>
              <a:ext uri="{FF2B5EF4-FFF2-40B4-BE49-F238E27FC236}">
                <a16:creationId xmlns:a16="http://schemas.microsoft.com/office/drawing/2014/main" id="{7C3FD3E8-A69F-23B5-E46B-A953D8BA4A38}"/>
              </a:ext>
            </a:extLst>
          </p:cNvPr>
          <p:cNvSpPr/>
          <p:nvPr/>
        </p:nvSpPr>
        <p:spPr>
          <a:xfrm>
            <a:off x="548640" y="4279392"/>
            <a:ext cx="237744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工作分鐘數</a:t>
            </a:r>
            <a:endParaRPr lang="en-US" sz="1200" dirty="0"/>
          </a:p>
        </p:txBody>
      </p:sp>
      <p:sp>
        <p:nvSpPr>
          <p:cNvPr id="61" name="Text 25">
            <a:extLst>
              <a:ext uri="{FF2B5EF4-FFF2-40B4-BE49-F238E27FC236}">
                <a16:creationId xmlns:a16="http://schemas.microsoft.com/office/drawing/2014/main" id="{52C1C402-414A-B1FD-E236-6D427C6DA76E}"/>
              </a:ext>
            </a:extLst>
          </p:cNvPr>
          <p:cNvSpPr/>
          <p:nvPr/>
        </p:nvSpPr>
        <p:spPr>
          <a:xfrm>
            <a:off x="2926080" y="4279392"/>
            <a:ext cx="192024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</a:t>
            </a:r>
            <a:endParaRPr lang="en-US" sz="1200" dirty="0"/>
          </a:p>
        </p:txBody>
      </p:sp>
      <p:sp>
        <p:nvSpPr>
          <p:cNvPr id="63" name="Text 26">
            <a:extLst>
              <a:ext uri="{FF2B5EF4-FFF2-40B4-BE49-F238E27FC236}">
                <a16:creationId xmlns:a16="http://schemas.microsoft.com/office/drawing/2014/main" id="{E59BBAE4-289C-5F5E-1B9E-736DC53A3B0D}"/>
              </a:ext>
            </a:extLst>
          </p:cNvPr>
          <p:cNvSpPr/>
          <p:nvPr/>
        </p:nvSpPr>
        <p:spPr>
          <a:xfrm>
            <a:off x="4846320" y="4279392"/>
            <a:ext cx="67665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>
              <a:lnSpc>
                <a:spcPct val="115000"/>
              </a:lnSpc>
            </a:pPr>
            <a:r>
              <a:rPr lang="en-US" sz="1200" dirty="0" err="1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自動記錄當日工作時數</a:t>
            </a:r>
            <a:r>
              <a:rPr lang="zh-TW" alt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</a:t>
            </a:r>
            <a:r>
              <a:rPr lang="zh-TW" altLang="en-US" sz="120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</a:t>
            </a:r>
            <a:r>
              <a:rPr lang="en-US" altLang="zh-TW" sz="120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IF(OR(</a:t>
            </a:r>
            <a:r>
              <a:rPr lang="zh-TW" altLang="en-US" sz="120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上班打卡</a:t>
            </a:r>
            <a:r>
              <a:rPr lang="en-US" altLang="zh-TW" sz="120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="", </a:t>
            </a:r>
            <a:r>
              <a:rPr lang="zh-TW" altLang="en-US" sz="120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下班打卡</a:t>
            </a:r>
            <a:r>
              <a:rPr lang="en-US" altLang="zh-TW" sz="120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=""), "", ROUND((</a:t>
            </a:r>
            <a:r>
              <a:rPr lang="zh-TW" altLang="en-US" sz="120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下班打卡 </a:t>
            </a:r>
            <a:r>
              <a:rPr lang="en-US" altLang="zh-TW" sz="120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zh-TW" altLang="en-US" sz="120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上班打卡</a:t>
            </a:r>
            <a:r>
              <a:rPr lang="en-US" altLang="zh-TW" sz="120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/ 60))</a:t>
            </a:r>
            <a:r>
              <a:rPr lang="zh-TW" altLang="en-US" sz="120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altLang="zh-TW" sz="1200" i="1" dirty="0">
              <a:solidFill>
                <a:srgbClr val="7C8A9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5" name="Text 27">
            <a:extLst>
              <a:ext uri="{FF2B5EF4-FFF2-40B4-BE49-F238E27FC236}">
                <a16:creationId xmlns:a16="http://schemas.microsoft.com/office/drawing/2014/main" id="{C296E9D2-BAF4-8158-8DEC-87A1951FA3BB}"/>
              </a:ext>
            </a:extLst>
          </p:cNvPr>
          <p:cNvSpPr/>
          <p:nvPr/>
        </p:nvSpPr>
        <p:spPr>
          <a:xfrm>
            <a:off x="548640" y="492861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105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欄位</a:t>
            </a:r>
            <a:r>
              <a:rPr lang="en-US" sz="1050" i="1" dirty="0" err="1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對應更新</a:t>
            </a:r>
            <a:r>
              <a:rPr lang="en-US" sz="105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GAS </a:t>
            </a:r>
            <a:r>
              <a:rPr lang="en-US" sz="1050" i="1" dirty="0" err="1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程式碼中的</a:t>
            </a:r>
            <a:r>
              <a:rPr lang="en-US" sz="105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FIELDS.log </a:t>
            </a:r>
            <a:r>
              <a:rPr lang="en-US" sz="1050" i="1" dirty="0" err="1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設定物件；選項文字（如「正常</a:t>
            </a:r>
            <a:r>
              <a:rPr lang="en-US" sz="105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」「</a:t>
            </a:r>
            <a:r>
              <a:rPr lang="en-US" sz="1050" i="1" dirty="0" err="1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遲到</a:t>
            </a:r>
            <a:r>
              <a:rPr lang="en-US" sz="105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」）</a:t>
            </a:r>
            <a:r>
              <a:rPr lang="en-US" sz="1050" i="1" dirty="0" err="1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則對應</a:t>
            </a:r>
            <a:r>
              <a:rPr lang="en-US" sz="105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VALUES </a:t>
            </a:r>
            <a:r>
              <a:rPr lang="en-US" sz="1050" i="1" dirty="0" err="1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設定物件</a:t>
            </a:r>
            <a:r>
              <a:rPr lang="en-US" sz="105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4227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EB55F-0453-9D02-45AC-3F220375F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8EDACA7-BBFB-196E-7E6D-208F827A3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B7D7-A615-4EBC-AC00-85E88FB77C47}" type="slidenum">
              <a:rPr lang="zh-TW" alt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fld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412D5592-AA48-C0B9-52F5-D96D5056694B}"/>
              </a:ext>
            </a:extLst>
          </p:cNvPr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9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 · KINTONE 自訂 JS</a:t>
            </a:r>
            <a:endParaRPr lang="en-US" sz="120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0122F431-4C5F-2819-0929-77D4DC840719}"/>
              </a:ext>
            </a:extLst>
          </p:cNvPr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打卡紀錄 App － 打卡狀態月覽表</a:t>
            </a:r>
            <a:endParaRPr lang="en-US" sz="2800" dirty="0"/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915F33AC-D076-4C8D-1A25-0511DD6E87BB}"/>
              </a:ext>
            </a:extLst>
          </p:cNvPr>
          <p:cNvSpPr/>
          <p:nvPr/>
        </p:nvSpPr>
        <p:spPr>
          <a:xfrm>
            <a:off x="548640" y="1554480"/>
            <a:ext cx="65836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9050">
            <a:solidFill>
              <a:srgbClr val="F7BC49"/>
            </a:solidFill>
            <a:prstDash val="solid"/>
          </a:ln>
          <a:effectLst>
            <a:outerShdw blurRad="101600" dist="25400" dir="5400000" algn="bl" rotWithShape="0">
              <a:srgbClr val="07304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EB11DBFB-1723-ACC0-EA0A-BBC695A09F99}"/>
              </a:ext>
            </a:extLst>
          </p:cNvPr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F7BC49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3" name="Image 0" descr="/home/claude/icons/code_white.png">
            <a:extLst>
              <a:ext uri="{FF2B5EF4-FFF2-40B4-BE49-F238E27FC236}">
                <a16:creationId xmlns:a16="http://schemas.microsoft.com/office/drawing/2014/main" id="{C8F9BF4E-99AA-4104-556B-97A33FE37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" y="1959559"/>
            <a:ext cx="241402" cy="241402"/>
          </a:xfrm>
          <a:prstGeom prst="rect">
            <a:avLst/>
          </a:prstGeom>
        </p:spPr>
      </p:pic>
      <p:sp>
        <p:nvSpPr>
          <p:cNvPr id="25" name="Text 4">
            <a:extLst>
              <a:ext uri="{FF2B5EF4-FFF2-40B4-BE49-F238E27FC236}">
                <a16:creationId xmlns:a16="http://schemas.microsoft.com/office/drawing/2014/main" id="{6ACA678F-0A88-5373-94D9-C12B803D9D97}"/>
              </a:ext>
            </a:extLst>
          </p:cNvPr>
          <p:cNvSpPr/>
          <p:nvPr/>
        </p:nvSpPr>
        <p:spPr>
          <a:xfrm>
            <a:off x="1463040" y="182880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kintone-report-view.js</a:t>
            </a:r>
            <a:endParaRPr lang="en-US" sz="160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DACF8835-1FA2-04D8-575E-1AD965F71347}"/>
              </a:ext>
            </a:extLst>
          </p:cNvPr>
          <p:cNvSpPr/>
          <p:nvPr/>
        </p:nvSpPr>
        <p:spPr>
          <a:xfrm>
            <a:off x="822960" y="25146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步驟 1｜確認清單「打卡紀錄月一覽」的視圖 ID：設定 → 清單 → 清單 ID</a:t>
            </a:r>
            <a:endParaRPr lang="en-US" sz="1150" dirty="0"/>
          </a:p>
        </p:txBody>
      </p:sp>
      <p:sp>
        <p:nvSpPr>
          <p:cNvPr id="29" name="Shape 6">
            <a:extLst>
              <a:ext uri="{FF2B5EF4-FFF2-40B4-BE49-F238E27FC236}">
                <a16:creationId xmlns:a16="http://schemas.microsoft.com/office/drawing/2014/main" id="{94AE8237-BD06-E9C6-A991-91AAD949C0D8}"/>
              </a:ext>
            </a:extLst>
          </p:cNvPr>
          <p:cNvSpPr/>
          <p:nvPr/>
        </p:nvSpPr>
        <p:spPr>
          <a:xfrm>
            <a:off x="822960" y="2926080"/>
            <a:ext cx="6035040" cy="640080"/>
          </a:xfrm>
          <a:prstGeom prst="roundRect">
            <a:avLst>
              <a:gd name="adj" fmla="val 8571"/>
            </a:avLst>
          </a:prstGeom>
          <a:solidFill>
            <a:srgbClr val="0730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544B1BDD-9808-6450-B9EA-B753E5171282}"/>
              </a:ext>
            </a:extLst>
          </p:cNvPr>
          <p:cNvSpPr/>
          <p:nvPr/>
        </p:nvSpPr>
        <p:spPr>
          <a:xfrm>
            <a:off x="1005840" y="292608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reportViewId: '11217519', // 清單「打卡紀錄月一覽」的視圖 ID</a:t>
            </a:r>
            <a:endParaRPr lang="en-US" sz="1050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C196C897-04CE-E24C-8CB2-C50940904200}"/>
              </a:ext>
            </a:extLst>
          </p:cNvPr>
          <p:cNvSpPr/>
          <p:nvPr/>
        </p:nvSpPr>
        <p:spPr>
          <a:xfrm>
            <a:off x="822960" y="37947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步驟 2｜確認客戶 Kintone 欄位名稱是否有修改</a:t>
            </a:r>
            <a:endParaRPr lang="en-US" sz="1150" dirty="0"/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EE84EA89-1BF9-645E-A2B3-BB0054B71C0F}"/>
              </a:ext>
            </a:extLst>
          </p:cNvPr>
          <p:cNvSpPr/>
          <p:nvPr/>
        </p:nvSpPr>
        <p:spPr>
          <a:xfrm>
            <a:off x="822960" y="4206240"/>
            <a:ext cx="6035040" cy="640080"/>
          </a:xfrm>
          <a:prstGeom prst="roundRect">
            <a:avLst>
              <a:gd name="adj" fmla="val 8571"/>
            </a:avLst>
          </a:prstGeom>
          <a:solidFill>
            <a:srgbClr val="0730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C4824BC4-E0D4-E339-0BF2-EA11CC970D68}"/>
              </a:ext>
            </a:extLst>
          </p:cNvPr>
          <p:cNvSpPr/>
          <p:nvPr/>
        </p:nvSpPr>
        <p:spPr>
          <a:xfrm>
            <a:off x="1005840" y="420624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CONFIG = { … }</a:t>
            </a:r>
            <a:endParaRPr lang="en-US" sz="1050" dirty="0"/>
          </a:p>
        </p:txBody>
      </p:sp>
      <p:sp>
        <p:nvSpPr>
          <p:cNvPr id="39" name="Shape 11">
            <a:extLst>
              <a:ext uri="{FF2B5EF4-FFF2-40B4-BE49-F238E27FC236}">
                <a16:creationId xmlns:a16="http://schemas.microsoft.com/office/drawing/2014/main" id="{890C88F4-20A8-2D96-7187-E9C0E7F55C51}"/>
              </a:ext>
            </a:extLst>
          </p:cNvPr>
          <p:cNvSpPr/>
          <p:nvPr/>
        </p:nvSpPr>
        <p:spPr>
          <a:xfrm>
            <a:off x="7452360" y="1554480"/>
            <a:ext cx="4160520" cy="4572000"/>
          </a:xfrm>
          <a:prstGeom prst="roundRect">
            <a:avLst>
              <a:gd name="adj" fmla="val 1758"/>
            </a:avLst>
          </a:prstGeom>
          <a:solidFill>
            <a:srgbClr val="F4F1EC"/>
          </a:solidFill>
          <a:ln w="12700">
            <a:solidFill>
              <a:srgbClr val="E2E6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EE1B3CDD-F0D7-3799-B027-D8FF5F3D325D}"/>
              </a:ext>
            </a:extLst>
          </p:cNvPr>
          <p:cNvSpPr/>
          <p:nvPr/>
        </p:nvSpPr>
        <p:spPr>
          <a:xfrm>
            <a:off x="7726680" y="1828800"/>
            <a:ext cx="502920" cy="502920"/>
          </a:xfrm>
          <a:prstGeom prst="ellipse">
            <a:avLst/>
          </a:prstGeom>
          <a:solidFill>
            <a:srgbClr val="E2E6E5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43" name="Image 1" descr="/home/claude/icons/palette_navy.png">
            <a:extLst>
              <a:ext uri="{FF2B5EF4-FFF2-40B4-BE49-F238E27FC236}">
                <a16:creationId xmlns:a16="http://schemas.microsoft.com/office/drawing/2014/main" id="{5D6818C0-6631-3B07-9E9B-CA71CEF20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439" y="1959559"/>
            <a:ext cx="241402" cy="241402"/>
          </a:xfrm>
          <a:prstGeom prst="rect">
            <a:avLst/>
          </a:prstGeom>
        </p:spPr>
      </p:pic>
      <p:sp>
        <p:nvSpPr>
          <p:cNvPr id="45" name="Text 13">
            <a:extLst>
              <a:ext uri="{FF2B5EF4-FFF2-40B4-BE49-F238E27FC236}">
                <a16:creationId xmlns:a16="http://schemas.microsoft.com/office/drawing/2014/main" id="{AD09D3BF-C184-2712-4E2E-A58622AA79F4}"/>
              </a:ext>
            </a:extLst>
          </p:cNvPr>
          <p:cNvSpPr/>
          <p:nvPr/>
        </p:nvSpPr>
        <p:spPr>
          <a:xfrm>
            <a:off x="8366760" y="18288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kintone-report-view.css</a:t>
            </a:r>
            <a:endParaRPr lang="en-US" sz="1400" dirty="0"/>
          </a:p>
        </p:txBody>
      </p:sp>
      <p:sp>
        <p:nvSpPr>
          <p:cNvPr id="47" name="Text 14">
            <a:extLst>
              <a:ext uri="{FF2B5EF4-FFF2-40B4-BE49-F238E27FC236}">
                <a16:creationId xmlns:a16="http://schemas.microsoft.com/office/drawing/2014/main" id="{BD7791D2-2157-43CB-636F-BE4ED479B54D}"/>
              </a:ext>
            </a:extLst>
          </p:cNvPr>
          <p:cNvSpPr/>
          <p:nvPr/>
        </p:nvSpPr>
        <p:spPr>
          <a:xfrm>
            <a:off x="7726680" y="25603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不用修改，但要確定有上傳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692917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538BF24-8098-3AF1-0C36-A6280FA01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B7D7-A615-4EBC-AC00-85E88FB77C47}" type="slidenum">
              <a:rPr lang="zh-TW" alt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fld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5282406A-AD88-DCC6-668D-0ED4BEE02660}"/>
              </a:ext>
            </a:extLst>
          </p:cNvPr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9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 · 資料處理</a:t>
            </a:r>
            <a:endParaRPr lang="en-US" sz="12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38699375-2532-289B-E35E-A6B49584C4C2}"/>
              </a:ext>
            </a:extLst>
          </p:cNvPr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程式檔案結構</a:t>
            </a:r>
            <a:endParaRPr lang="en-US" sz="2800" dirty="0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552C5B99-8E4A-F100-CAF2-051E40590089}"/>
              </a:ext>
            </a:extLst>
          </p:cNvPr>
          <p:cNvSpPr/>
          <p:nvPr/>
        </p:nvSpPr>
        <p:spPr>
          <a:xfrm>
            <a:off x="548640" y="1554480"/>
            <a:ext cx="65836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9050">
            <a:solidFill>
              <a:srgbClr val="F7BC49"/>
            </a:solidFill>
            <a:prstDash val="solid"/>
          </a:ln>
          <a:effectLst>
            <a:outerShdw blurRad="101600" dist="25400" dir="5400000" algn="bl" rotWithShape="0">
              <a:srgbClr val="07304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53A4AB0B-8B91-661C-BFEE-6CBCEC731CFD}"/>
              </a:ext>
            </a:extLst>
          </p:cNvPr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F7BC49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0" name="Image 0" descr="/home/claude/icons/folder_white.png">
            <a:extLst>
              <a:ext uri="{FF2B5EF4-FFF2-40B4-BE49-F238E27FC236}">
                <a16:creationId xmlns:a16="http://schemas.microsoft.com/office/drawing/2014/main" id="{C7DFBFE6-A02E-C42E-6439-8AF524A87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" y="1959559"/>
            <a:ext cx="241402" cy="241402"/>
          </a:xfrm>
          <a:prstGeom prst="rect">
            <a:avLst/>
          </a:prstGeom>
        </p:spPr>
      </p:pic>
      <p:sp>
        <p:nvSpPr>
          <p:cNvPr id="22" name="Text 4">
            <a:extLst>
              <a:ext uri="{FF2B5EF4-FFF2-40B4-BE49-F238E27FC236}">
                <a16:creationId xmlns:a16="http://schemas.microsoft.com/office/drawing/2014/main" id="{9BC03A8A-8D04-371F-0328-8FFE248101C3}"/>
              </a:ext>
            </a:extLst>
          </p:cNvPr>
          <p:cNvSpPr/>
          <p:nvPr/>
        </p:nvSpPr>
        <p:spPr>
          <a:xfrm>
            <a:off x="1463040" y="182880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Config.gs</a:t>
            </a:r>
            <a:endParaRPr lang="en-US" sz="160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56E95D18-FF55-3182-4160-B0EEB26F4BC1}"/>
              </a:ext>
            </a:extLst>
          </p:cNvPr>
          <p:cNvSpPr/>
          <p:nvPr/>
        </p:nvSpPr>
        <p:spPr>
          <a:xfrm>
            <a:off x="822960" y="246888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需確認客戶 Kintone 欄位名稱是否有修改</a:t>
            </a:r>
            <a:endParaRPr lang="en-US" sz="1150" dirty="0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386E454F-BC42-4132-2F9D-672F2FDDACC4}"/>
              </a:ext>
            </a:extLst>
          </p:cNvPr>
          <p:cNvSpPr/>
          <p:nvPr/>
        </p:nvSpPr>
        <p:spPr>
          <a:xfrm>
            <a:off x="822960" y="2834640"/>
            <a:ext cx="6035040" cy="3063240"/>
          </a:xfrm>
          <a:prstGeom prst="roundRect">
            <a:avLst>
              <a:gd name="adj" fmla="val 2388"/>
            </a:avLst>
          </a:prstGeom>
          <a:solidFill>
            <a:srgbClr val="0730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7FEFDECA-0BBC-9376-E3E0-47E8962992D8}"/>
              </a:ext>
            </a:extLst>
          </p:cNvPr>
          <p:cNvSpPr/>
          <p:nvPr/>
        </p:nvSpPr>
        <p:spPr>
          <a:xfrm>
            <a:off x="1005840" y="2971800"/>
            <a:ext cx="5669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FIELDS = {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......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打卡提醒（分鐘）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RULES.reminder = {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checkInAdvanceMinutes: 30, // 上班前 30 分鐘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checkOutDelayMinutes: 30,  // 下班後 30 分鐘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午休時段：扣除重疊的分鐘數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RULES.lunchBreak = {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start: '12:00',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end: '13:00',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50" dirty="0"/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652F314C-04F0-39BF-3A07-9748CF38F3CD}"/>
              </a:ext>
            </a:extLst>
          </p:cNvPr>
          <p:cNvSpPr/>
          <p:nvPr/>
        </p:nvSpPr>
        <p:spPr>
          <a:xfrm>
            <a:off x="7452360" y="1554480"/>
            <a:ext cx="4160520" cy="4572000"/>
          </a:xfrm>
          <a:prstGeom prst="roundRect">
            <a:avLst>
              <a:gd name="adj" fmla="val 1758"/>
            </a:avLst>
          </a:prstGeom>
          <a:solidFill>
            <a:srgbClr val="F4F1EC"/>
          </a:solidFill>
          <a:ln w="12700">
            <a:solidFill>
              <a:srgbClr val="E2E6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2C188449-D0AA-8BC6-F842-231D21742FA4}"/>
              </a:ext>
            </a:extLst>
          </p:cNvPr>
          <p:cNvSpPr/>
          <p:nvPr/>
        </p:nvSpPr>
        <p:spPr>
          <a:xfrm>
            <a:off x="7726680" y="17830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其餘檔案</a:t>
            </a:r>
            <a:endParaRPr lang="en-US" sz="1400" dirty="0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C6EF8E7F-36BE-6472-60F2-32FDAD64ED66}"/>
              </a:ext>
            </a:extLst>
          </p:cNvPr>
          <p:cNvSpPr/>
          <p:nvPr/>
        </p:nvSpPr>
        <p:spPr>
          <a:xfrm>
            <a:off x="7726680" y="2286000"/>
            <a:ext cx="3611880" cy="365760"/>
          </a:xfrm>
          <a:prstGeom prst="roundRect">
            <a:avLst>
              <a:gd name="adj" fmla="val 75000"/>
            </a:avLst>
          </a:prstGeom>
          <a:solidFill>
            <a:srgbClr val="F4F1EC"/>
          </a:solidFill>
          <a:ln w="12700">
            <a:solidFill>
              <a:srgbClr val="E2E6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E7327F53-F1F5-9E8D-75D6-7239DE18DF9D}"/>
              </a:ext>
            </a:extLst>
          </p:cNvPr>
          <p:cNvSpPr/>
          <p:nvPr/>
        </p:nvSpPr>
        <p:spPr>
          <a:xfrm>
            <a:off x="7955280" y="22860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7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Auth.gs</a:t>
            </a:r>
            <a:endParaRPr lang="en-US" sz="1150" dirty="0"/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80F16520-CDEF-9D03-429E-D1E98DCD8910}"/>
              </a:ext>
            </a:extLst>
          </p:cNvPr>
          <p:cNvSpPr/>
          <p:nvPr/>
        </p:nvSpPr>
        <p:spPr>
          <a:xfrm>
            <a:off x="7726680" y="2761488"/>
            <a:ext cx="3611880" cy="365760"/>
          </a:xfrm>
          <a:prstGeom prst="roundRect">
            <a:avLst>
              <a:gd name="adj" fmla="val 75000"/>
            </a:avLst>
          </a:prstGeom>
          <a:solidFill>
            <a:srgbClr val="F4F1EC"/>
          </a:solidFill>
          <a:ln w="12700">
            <a:solidFill>
              <a:srgbClr val="E2E6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080894AE-F8D8-9F71-CCD5-E9A96A0F1516}"/>
              </a:ext>
            </a:extLst>
          </p:cNvPr>
          <p:cNvSpPr/>
          <p:nvPr/>
        </p:nvSpPr>
        <p:spPr>
          <a:xfrm>
            <a:off x="7955280" y="276148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7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LineBot.gs</a:t>
            </a:r>
            <a:endParaRPr lang="en-US" sz="1150" dirty="0"/>
          </a:p>
        </p:txBody>
      </p:sp>
      <p:sp>
        <p:nvSpPr>
          <p:cNvPr id="42" name="Shape 14">
            <a:extLst>
              <a:ext uri="{FF2B5EF4-FFF2-40B4-BE49-F238E27FC236}">
                <a16:creationId xmlns:a16="http://schemas.microsoft.com/office/drawing/2014/main" id="{F11E90A6-6045-A213-E5B5-53A21901B43B}"/>
              </a:ext>
            </a:extLst>
          </p:cNvPr>
          <p:cNvSpPr/>
          <p:nvPr/>
        </p:nvSpPr>
        <p:spPr>
          <a:xfrm>
            <a:off x="7726680" y="3236976"/>
            <a:ext cx="3611880" cy="365760"/>
          </a:xfrm>
          <a:prstGeom prst="roundRect">
            <a:avLst>
              <a:gd name="adj" fmla="val 75000"/>
            </a:avLst>
          </a:prstGeom>
          <a:solidFill>
            <a:srgbClr val="F4F1EC"/>
          </a:solidFill>
          <a:ln w="12700">
            <a:solidFill>
              <a:srgbClr val="E2E6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3BC9BA17-BDA3-531C-9C83-404E28788528}"/>
              </a:ext>
            </a:extLst>
          </p:cNvPr>
          <p:cNvSpPr/>
          <p:nvPr/>
        </p:nvSpPr>
        <p:spPr>
          <a:xfrm>
            <a:off x="7955280" y="3236976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7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Punch.gs</a:t>
            </a:r>
            <a:endParaRPr lang="en-US" sz="1150" dirty="0"/>
          </a:p>
        </p:txBody>
      </p:sp>
      <p:sp>
        <p:nvSpPr>
          <p:cNvPr id="46" name="Shape 16">
            <a:extLst>
              <a:ext uri="{FF2B5EF4-FFF2-40B4-BE49-F238E27FC236}">
                <a16:creationId xmlns:a16="http://schemas.microsoft.com/office/drawing/2014/main" id="{22CC9F07-B5A3-4184-9D93-4F89F75661C2}"/>
              </a:ext>
            </a:extLst>
          </p:cNvPr>
          <p:cNvSpPr/>
          <p:nvPr/>
        </p:nvSpPr>
        <p:spPr>
          <a:xfrm>
            <a:off x="7726680" y="3712464"/>
            <a:ext cx="3611880" cy="365760"/>
          </a:xfrm>
          <a:prstGeom prst="roundRect">
            <a:avLst>
              <a:gd name="adj" fmla="val 75000"/>
            </a:avLst>
          </a:prstGeom>
          <a:solidFill>
            <a:srgbClr val="F4F1EC"/>
          </a:solidFill>
          <a:ln w="12700">
            <a:solidFill>
              <a:srgbClr val="E2E6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862014B2-1076-8229-81F2-9CAD09C3735A}"/>
              </a:ext>
            </a:extLst>
          </p:cNvPr>
          <p:cNvSpPr/>
          <p:nvPr/>
        </p:nvSpPr>
        <p:spPr>
          <a:xfrm>
            <a:off x="7955280" y="371246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7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Reminder.gs</a:t>
            </a:r>
            <a:endParaRPr lang="en-US" sz="1150" dirty="0"/>
          </a:p>
        </p:txBody>
      </p:sp>
      <p:sp>
        <p:nvSpPr>
          <p:cNvPr id="50" name="Shape 18">
            <a:extLst>
              <a:ext uri="{FF2B5EF4-FFF2-40B4-BE49-F238E27FC236}">
                <a16:creationId xmlns:a16="http://schemas.microsoft.com/office/drawing/2014/main" id="{7B8ADE88-E0B8-BC42-D6E7-93441645C6FF}"/>
              </a:ext>
            </a:extLst>
          </p:cNvPr>
          <p:cNvSpPr/>
          <p:nvPr/>
        </p:nvSpPr>
        <p:spPr>
          <a:xfrm>
            <a:off x="7726680" y="4187952"/>
            <a:ext cx="3611880" cy="365760"/>
          </a:xfrm>
          <a:prstGeom prst="roundRect">
            <a:avLst>
              <a:gd name="adj" fmla="val 75000"/>
            </a:avLst>
          </a:prstGeom>
          <a:solidFill>
            <a:srgbClr val="F4F1EC"/>
          </a:solidFill>
          <a:ln w="12700">
            <a:solidFill>
              <a:srgbClr val="E2E6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Text 19">
            <a:extLst>
              <a:ext uri="{FF2B5EF4-FFF2-40B4-BE49-F238E27FC236}">
                <a16:creationId xmlns:a16="http://schemas.microsoft.com/office/drawing/2014/main" id="{C6C14728-D372-2D3F-7764-5EA4F9CD5C25}"/>
              </a:ext>
            </a:extLst>
          </p:cNvPr>
          <p:cNvSpPr/>
          <p:nvPr/>
        </p:nvSpPr>
        <p:spPr>
          <a:xfrm>
            <a:off x="7955280" y="41879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7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Report.gs</a:t>
            </a:r>
            <a:endParaRPr lang="en-US" sz="1150" dirty="0"/>
          </a:p>
        </p:txBody>
      </p:sp>
      <p:sp>
        <p:nvSpPr>
          <p:cNvPr id="54" name="Shape 20">
            <a:extLst>
              <a:ext uri="{FF2B5EF4-FFF2-40B4-BE49-F238E27FC236}">
                <a16:creationId xmlns:a16="http://schemas.microsoft.com/office/drawing/2014/main" id="{3B57F84B-0D23-2E59-DF98-E7A48F7BB69B}"/>
              </a:ext>
            </a:extLst>
          </p:cNvPr>
          <p:cNvSpPr/>
          <p:nvPr/>
        </p:nvSpPr>
        <p:spPr>
          <a:xfrm>
            <a:off x="7726680" y="4663440"/>
            <a:ext cx="3611880" cy="365760"/>
          </a:xfrm>
          <a:prstGeom prst="roundRect">
            <a:avLst>
              <a:gd name="adj" fmla="val 75000"/>
            </a:avLst>
          </a:prstGeom>
          <a:solidFill>
            <a:srgbClr val="F4F1EC"/>
          </a:solidFill>
          <a:ln w="12700">
            <a:solidFill>
              <a:srgbClr val="E2E6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Text 21">
            <a:extLst>
              <a:ext uri="{FF2B5EF4-FFF2-40B4-BE49-F238E27FC236}">
                <a16:creationId xmlns:a16="http://schemas.microsoft.com/office/drawing/2014/main" id="{682A1BB4-4BCB-3ECB-FB0A-32BDB092C24B}"/>
              </a:ext>
            </a:extLst>
          </p:cNvPr>
          <p:cNvSpPr/>
          <p:nvPr/>
        </p:nvSpPr>
        <p:spPr>
          <a:xfrm>
            <a:off x="7955280" y="46634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7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Router.gs</a:t>
            </a:r>
            <a:endParaRPr lang="en-US" sz="1150" dirty="0"/>
          </a:p>
        </p:txBody>
      </p:sp>
      <p:sp>
        <p:nvSpPr>
          <p:cNvPr id="58" name="Shape 22">
            <a:extLst>
              <a:ext uri="{FF2B5EF4-FFF2-40B4-BE49-F238E27FC236}">
                <a16:creationId xmlns:a16="http://schemas.microsoft.com/office/drawing/2014/main" id="{6B640C7F-D6A0-5E67-DAA6-35FDFCCDA625}"/>
              </a:ext>
            </a:extLst>
          </p:cNvPr>
          <p:cNvSpPr/>
          <p:nvPr/>
        </p:nvSpPr>
        <p:spPr>
          <a:xfrm>
            <a:off x="7726680" y="5138928"/>
            <a:ext cx="3611880" cy="365760"/>
          </a:xfrm>
          <a:prstGeom prst="roundRect">
            <a:avLst>
              <a:gd name="adj" fmla="val 75000"/>
            </a:avLst>
          </a:prstGeom>
          <a:solidFill>
            <a:srgbClr val="F4F1EC"/>
          </a:solidFill>
          <a:ln w="12700">
            <a:solidFill>
              <a:srgbClr val="E2E6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Text 23">
            <a:extLst>
              <a:ext uri="{FF2B5EF4-FFF2-40B4-BE49-F238E27FC236}">
                <a16:creationId xmlns:a16="http://schemas.microsoft.com/office/drawing/2014/main" id="{779C9183-8D22-24F3-7C97-10218512E423}"/>
              </a:ext>
            </a:extLst>
          </p:cNvPr>
          <p:cNvSpPr/>
          <p:nvPr/>
        </p:nvSpPr>
        <p:spPr>
          <a:xfrm>
            <a:off x="7955280" y="51389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7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Utils.gs</a:t>
            </a:r>
            <a:endParaRPr lang="en-US" sz="1150" dirty="0"/>
          </a:p>
        </p:txBody>
      </p:sp>
      <p:sp>
        <p:nvSpPr>
          <p:cNvPr id="62" name="Text 24">
            <a:extLst>
              <a:ext uri="{FF2B5EF4-FFF2-40B4-BE49-F238E27FC236}">
                <a16:creationId xmlns:a16="http://schemas.microsoft.com/office/drawing/2014/main" id="{BF5A654F-32DF-B2F7-2F27-F97966DCAC33}"/>
              </a:ext>
            </a:extLst>
          </p:cNvPr>
          <p:cNvSpPr/>
          <p:nvPr/>
        </p:nvSpPr>
        <p:spPr>
          <a:xfrm>
            <a:off x="7726680" y="5705856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不用修改，但要確定有上傳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082293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675BF-FEE1-ACF6-BAA9-9E516B22D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C65ED8F-3038-2800-F925-D6929A320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B7D7-A615-4EBC-AC00-85E88FB77C47}" type="slidenum">
              <a:rPr lang="zh-TW" alt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9</a:t>
            </a:fld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2ECA5F7F-D520-846B-1398-7472DC09A27D}"/>
              </a:ext>
            </a:extLst>
          </p:cNvPr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9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 · 資料處理</a:t>
            </a:r>
            <a:endParaRPr lang="en-US" sz="12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75FB7B0F-1C50-C640-335F-134EDBE6D4F9}"/>
              </a:ext>
            </a:extLst>
          </p:cNvPr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指令碼屬性設定－ Kintone</a:t>
            </a:r>
            <a:endParaRPr lang="en-US" sz="28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F06220E3-C314-58E1-F16D-75E7D165B3ED}"/>
              </a:ext>
            </a:extLst>
          </p:cNvPr>
          <p:cNvSpPr/>
          <p:nvPr/>
        </p:nvSpPr>
        <p:spPr>
          <a:xfrm>
            <a:off x="548640" y="117043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專案設定 → 指令碼屬性</a:t>
            </a:r>
            <a:endParaRPr lang="en-US" sz="13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64973B1F-454F-51B6-D6D5-38E0BC034FD3}"/>
              </a:ext>
            </a:extLst>
          </p:cNvPr>
          <p:cNvSpPr/>
          <p:nvPr/>
        </p:nvSpPr>
        <p:spPr>
          <a:xfrm>
            <a:off x="548640" y="1874520"/>
            <a:ext cx="11064240" cy="411480"/>
          </a:xfrm>
          <a:prstGeom prst="rect">
            <a:avLst/>
          </a:prstGeom>
          <a:solidFill>
            <a:srgbClr val="0730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B7EA7E6F-352D-77E9-6FBC-341313FEBA1F}"/>
              </a:ext>
            </a:extLst>
          </p:cNvPr>
          <p:cNvSpPr/>
          <p:nvPr/>
        </p:nvSpPr>
        <p:spPr>
          <a:xfrm>
            <a:off x="548640" y="1874520"/>
            <a:ext cx="2651760" cy="4114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欄位（預設名稱）</a:t>
            </a:r>
            <a:endParaRPr lang="en-US" sz="12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155A4771-DC30-96E7-3115-00D9C8FC7204}"/>
              </a:ext>
            </a:extLst>
          </p:cNvPr>
          <p:cNvSpPr/>
          <p:nvPr/>
        </p:nvSpPr>
        <p:spPr>
          <a:xfrm>
            <a:off x="3200400" y="1874520"/>
            <a:ext cx="2926080" cy="4114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類型</a:t>
            </a:r>
            <a:endParaRPr lang="en-US" sz="12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0C0C7FF5-CE55-4A26-F893-D5DA8C36987E}"/>
              </a:ext>
            </a:extLst>
          </p:cNvPr>
          <p:cNvSpPr/>
          <p:nvPr/>
        </p:nvSpPr>
        <p:spPr>
          <a:xfrm>
            <a:off x="6126480" y="1874520"/>
            <a:ext cx="5486400" cy="4114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</a:t>
            </a:r>
            <a:endParaRPr lang="en-US" sz="1200" dirty="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840E8BD6-1631-9F90-4295-B00667270E52}"/>
              </a:ext>
            </a:extLst>
          </p:cNvPr>
          <p:cNvSpPr/>
          <p:nvPr/>
        </p:nvSpPr>
        <p:spPr>
          <a:xfrm>
            <a:off x="548640" y="2286000"/>
            <a:ext cx="110642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D3D59DFB-D27B-2DE6-3FC0-DBE0FEC2246F}"/>
              </a:ext>
            </a:extLst>
          </p:cNvPr>
          <p:cNvSpPr/>
          <p:nvPr/>
        </p:nvSpPr>
        <p:spPr>
          <a:xfrm>
            <a:off x="548640" y="2286000"/>
            <a:ext cx="26517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KINTONE_DOMAIN</a:t>
            </a:r>
            <a:endParaRPr lang="en-US" sz="120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2A006AD4-1BF5-3EA5-7F99-8E98512D7940}"/>
              </a:ext>
            </a:extLst>
          </p:cNvPr>
          <p:cNvSpPr/>
          <p:nvPr/>
        </p:nvSpPr>
        <p:spPr>
          <a:xfrm>
            <a:off x="3200400" y="2286000"/>
            <a:ext cx="292608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客戶的 Kintone 網域</a:t>
            </a:r>
            <a:endParaRPr lang="en-US" sz="1200" dirty="0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27F0FC64-61FB-CB69-82CB-80A3BB236498}"/>
              </a:ext>
            </a:extLst>
          </p:cNvPr>
          <p:cNvSpPr/>
          <p:nvPr/>
        </p:nvSpPr>
        <p:spPr>
          <a:xfrm>
            <a:off x="6126480" y="2286000"/>
            <a:ext cx="548640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https://客戶的Kintone網域/</a:t>
            </a:r>
            <a:endParaRPr lang="en-US" sz="1200" dirty="0"/>
          </a:p>
        </p:txBody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5F29D8E2-A7E5-28DD-33FF-A0D735E32D66}"/>
              </a:ext>
            </a:extLst>
          </p:cNvPr>
          <p:cNvSpPr/>
          <p:nvPr/>
        </p:nvSpPr>
        <p:spPr>
          <a:xfrm>
            <a:off x="548640" y="2798064"/>
            <a:ext cx="11064240" cy="512064"/>
          </a:xfrm>
          <a:prstGeom prst="rect">
            <a:avLst/>
          </a:prstGeom>
          <a:solidFill>
            <a:srgbClr val="F4F1EC"/>
          </a:solidFill>
          <a:ln w="9525">
            <a:solidFill>
              <a:srgbClr val="E2E6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8749E22F-DEFA-B333-D847-261B0B5C3429}"/>
              </a:ext>
            </a:extLst>
          </p:cNvPr>
          <p:cNvSpPr/>
          <p:nvPr/>
        </p:nvSpPr>
        <p:spPr>
          <a:xfrm>
            <a:off x="548640" y="2798064"/>
            <a:ext cx="26517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APP_ID</a:t>
            </a:r>
            <a:endParaRPr lang="en-US" sz="1200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9DB709E6-68AE-ED61-8DB4-6AE471FDD553}"/>
              </a:ext>
            </a:extLst>
          </p:cNvPr>
          <p:cNvSpPr/>
          <p:nvPr/>
        </p:nvSpPr>
        <p:spPr>
          <a:xfrm>
            <a:off x="3200400" y="2798064"/>
            <a:ext cx="292608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員工資料 APP ID</a:t>
            </a:r>
            <a:endParaRPr lang="en-US" sz="1200" dirty="0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EF54582B-D3FB-AC5C-F3D1-208AFCA55FB3}"/>
              </a:ext>
            </a:extLst>
          </p:cNvPr>
          <p:cNvSpPr/>
          <p:nvPr/>
        </p:nvSpPr>
        <p:spPr>
          <a:xfrm>
            <a:off x="6126480" y="2798064"/>
            <a:ext cx="548640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－</a:t>
            </a:r>
            <a:endParaRPr lang="en-US" sz="1200" dirty="0"/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FA966785-E58C-542C-EBCF-1F76330CAF71}"/>
              </a:ext>
            </a:extLst>
          </p:cNvPr>
          <p:cNvSpPr/>
          <p:nvPr/>
        </p:nvSpPr>
        <p:spPr>
          <a:xfrm>
            <a:off x="548640" y="3310128"/>
            <a:ext cx="110642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605ED25A-BCF4-FE22-9F24-810B8EBD6B54}"/>
              </a:ext>
            </a:extLst>
          </p:cNvPr>
          <p:cNvSpPr/>
          <p:nvPr/>
        </p:nvSpPr>
        <p:spPr>
          <a:xfrm>
            <a:off x="548640" y="3310128"/>
            <a:ext cx="26517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TOKEN_WRITE</a:t>
            </a:r>
            <a:endParaRPr lang="en-US" sz="1200" dirty="0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1790AFBE-0088-CC4C-0736-2375E552B277}"/>
              </a:ext>
            </a:extLst>
          </p:cNvPr>
          <p:cNvSpPr/>
          <p:nvPr/>
        </p:nvSpPr>
        <p:spPr>
          <a:xfrm>
            <a:off x="3200400" y="3310128"/>
            <a:ext cx="292608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員工資料的 API Token</a:t>
            </a:r>
            <a:endParaRPr lang="en-US" sz="1200" dirty="0"/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3032704A-C0AD-67F9-CB9F-434EF20718BA}"/>
              </a:ext>
            </a:extLst>
          </p:cNvPr>
          <p:cNvSpPr/>
          <p:nvPr/>
        </p:nvSpPr>
        <p:spPr>
          <a:xfrm>
            <a:off x="6126480" y="3310128"/>
            <a:ext cx="548640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員工資料 APP 的 API 權杖　查看紀錄、編輯紀錄</a:t>
            </a:r>
            <a:endParaRPr lang="en-US" sz="1200" dirty="0"/>
          </a:p>
        </p:txBody>
      </p:sp>
      <p:sp>
        <p:nvSpPr>
          <p:cNvPr id="47" name="Shape 19">
            <a:extLst>
              <a:ext uri="{FF2B5EF4-FFF2-40B4-BE49-F238E27FC236}">
                <a16:creationId xmlns:a16="http://schemas.microsoft.com/office/drawing/2014/main" id="{A3446DDC-8C20-70BC-0914-F6068202E69A}"/>
              </a:ext>
            </a:extLst>
          </p:cNvPr>
          <p:cNvSpPr/>
          <p:nvPr/>
        </p:nvSpPr>
        <p:spPr>
          <a:xfrm>
            <a:off x="548640" y="3822192"/>
            <a:ext cx="11064240" cy="512064"/>
          </a:xfrm>
          <a:prstGeom prst="rect">
            <a:avLst/>
          </a:prstGeom>
          <a:solidFill>
            <a:srgbClr val="F4F1EC"/>
          </a:solidFill>
          <a:ln w="9525">
            <a:solidFill>
              <a:srgbClr val="E2E6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31F43EDE-2057-3262-B7BD-49D4C9D06279}"/>
              </a:ext>
            </a:extLst>
          </p:cNvPr>
          <p:cNvSpPr/>
          <p:nvPr/>
        </p:nvSpPr>
        <p:spPr>
          <a:xfrm>
            <a:off x="548640" y="3822192"/>
            <a:ext cx="26517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TOKEN_READ</a:t>
            </a:r>
            <a:endParaRPr lang="en-US" sz="1200" dirty="0"/>
          </a:p>
        </p:txBody>
      </p:sp>
      <p:sp>
        <p:nvSpPr>
          <p:cNvPr id="51" name="Text 21">
            <a:extLst>
              <a:ext uri="{FF2B5EF4-FFF2-40B4-BE49-F238E27FC236}">
                <a16:creationId xmlns:a16="http://schemas.microsoft.com/office/drawing/2014/main" id="{1A64F228-03CC-CFC4-6577-84F02233A83A}"/>
              </a:ext>
            </a:extLst>
          </p:cNvPr>
          <p:cNvSpPr/>
          <p:nvPr/>
        </p:nvSpPr>
        <p:spPr>
          <a:xfrm>
            <a:off x="3200400" y="3822192"/>
            <a:ext cx="292608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員工資料的 API Token</a:t>
            </a:r>
            <a:endParaRPr lang="en-US" sz="1200" dirty="0"/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2F85CBC2-AC21-1495-42BB-B3D27D553C60}"/>
              </a:ext>
            </a:extLst>
          </p:cNvPr>
          <p:cNvSpPr/>
          <p:nvPr/>
        </p:nvSpPr>
        <p:spPr>
          <a:xfrm>
            <a:off x="6126480" y="3822192"/>
            <a:ext cx="548640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員工資料 APP 的 API 權杖　查看紀錄</a:t>
            </a:r>
            <a:endParaRPr lang="en-US" sz="1200" dirty="0"/>
          </a:p>
        </p:txBody>
      </p:sp>
      <p:sp>
        <p:nvSpPr>
          <p:cNvPr id="55" name="Shape 23">
            <a:extLst>
              <a:ext uri="{FF2B5EF4-FFF2-40B4-BE49-F238E27FC236}">
                <a16:creationId xmlns:a16="http://schemas.microsoft.com/office/drawing/2014/main" id="{48B49B68-FEAC-325D-FAC8-AB1B6016328C}"/>
              </a:ext>
            </a:extLst>
          </p:cNvPr>
          <p:cNvSpPr/>
          <p:nvPr/>
        </p:nvSpPr>
        <p:spPr>
          <a:xfrm>
            <a:off x="548640" y="4334256"/>
            <a:ext cx="110642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Text 24">
            <a:extLst>
              <a:ext uri="{FF2B5EF4-FFF2-40B4-BE49-F238E27FC236}">
                <a16:creationId xmlns:a16="http://schemas.microsoft.com/office/drawing/2014/main" id="{34074A28-8826-7721-B84B-36ED281E3E9C}"/>
              </a:ext>
            </a:extLst>
          </p:cNvPr>
          <p:cNvSpPr/>
          <p:nvPr/>
        </p:nvSpPr>
        <p:spPr>
          <a:xfrm>
            <a:off x="548640" y="4334256"/>
            <a:ext cx="26517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CHECK_LOG_APP_ID</a:t>
            </a:r>
            <a:endParaRPr lang="en-US" sz="1200" dirty="0"/>
          </a:p>
        </p:txBody>
      </p:sp>
      <p:sp>
        <p:nvSpPr>
          <p:cNvPr id="59" name="Text 25">
            <a:extLst>
              <a:ext uri="{FF2B5EF4-FFF2-40B4-BE49-F238E27FC236}">
                <a16:creationId xmlns:a16="http://schemas.microsoft.com/office/drawing/2014/main" id="{0EEA4B3C-D939-72CB-EB53-9783F8FA194B}"/>
              </a:ext>
            </a:extLst>
          </p:cNvPr>
          <p:cNvSpPr/>
          <p:nvPr/>
        </p:nvSpPr>
        <p:spPr>
          <a:xfrm>
            <a:off x="3200400" y="4334256"/>
            <a:ext cx="292608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打卡紀錄 APP ID</a:t>
            </a:r>
            <a:endParaRPr lang="en-US" sz="1200" dirty="0"/>
          </a:p>
        </p:txBody>
      </p:sp>
      <p:sp>
        <p:nvSpPr>
          <p:cNvPr id="61" name="Text 26">
            <a:extLst>
              <a:ext uri="{FF2B5EF4-FFF2-40B4-BE49-F238E27FC236}">
                <a16:creationId xmlns:a16="http://schemas.microsoft.com/office/drawing/2014/main" id="{F88FF6D9-BEB5-98C4-67C9-8A4A20C2437A}"/>
              </a:ext>
            </a:extLst>
          </p:cNvPr>
          <p:cNvSpPr/>
          <p:nvPr/>
        </p:nvSpPr>
        <p:spPr>
          <a:xfrm>
            <a:off x="6126480" y="4334256"/>
            <a:ext cx="548640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－</a:t>
            </a:r>
            <a:endParaRPr lang="en-US" sz="1200" dirty="0"/>
          </a:p>
        </p:txBody>
      </p:sp>
      <p:sp>
        <p:nvSpPr>
          <p:cNvPr id="63" name="Shape 27">
            <a:extLst>
              <a:ext uri="{FF2B5EF4-FFF2-40B4-BE49-F238E27FC236}">
                <a16:creationId xmlns:a16="http://schemas.microsoft.com/office/drawing/2014/main" id="{DFEDA07C-8AD6-AB9A-E2E8-9A22824D1346}"/>
              </a:ext>
            </a:extLst>
          </p:cNvPr>
          <p:cNvSpPr/>
          <p:nvPr/>
        </p:nvSpPr>
        <p:spPr>
          <a:xfrm>
            <a:off x="548640" y="4846320"/>
            <a:ext cx="11064240" cy="731520"/>
          </a:xfrm>
          <a:prstGeom prst="rect">
            <a:avLst/>
          </a:prstGeom>
          <a:solidFill>
            <a:srgbClr val="F4F1EC"/>
          </a:solidFill>
          <a:ln w="9525">
            <a:solidFill>
              <a:srgbClr val="E2E6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Text 28">
            <a:extLst>
              <a:ext uri="{FF2B5EF4-FFF2-40B4-BE49-F238E27FC236}">
                <a16:creationId xmlns:a16="http://schemas.microsoft.com/office/drawing/2014/main" id="{B22CE700-E7D1-63F5-0AB6-0037E96A4293}"/>
              </a:ext>
            </a:extLst>
          </p:cNvPr>
          <p:cNvSpPr/>
          <p:nvPr/>
        </p:nvSpPr>
        <p:spPr>
          <a:xfrm>
            <a:off x="548640" y="4846320"/>
            <a:ext cx="2651760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CHECK_LOG_TOKEN</a:t>
            </a:r>
            <a:endParaRPr lang="en-US" sz="1200" dirty="0"/>
          </a:p>
        </p:txBody>
      </p:sp>
      <p:sp>
        <p:nvSpPr>
          <p:cNvPr id="67" name="Text 29">
            <a:extLst>
              <a:ext uri="{FF2B5EF4-FFF2-40B4-BE49-F238E27FC236}">
                <a16:creationId xmlns:a16="http://schemas.microsoft.com/office/drawing/2014/main" id="{A54D0A16-7A94-805A-E2FB-C9FF62CA2449}"/>
              </a:ext>
            </a:extLst>
          </p:cNvPr>
          <p:cNvSpPr/>
          <p:nvPr/>
        </p:nvSpPr>
        <p:spPr>
          <a:xfrm>
            <a:off x="3200400" y="4846320"/>
            <a:ext cx="2926080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打卡紀錄的 API Token</a:t>
            </a:r>
            <a:endParaRPr lang="en-US" sz="1200" dirty="0"/>
          </a:p>
        </p:txBody>
      </p:sp>
      <p:sp>
        <p:nvSpPr>
          <p:cNvPr id="69" name="Text 30">
            <a:extLst>
              <a:ext uri="{FF2B5EF4-FFF2-40B4-BE49-F238E27FC236}">
                <a16:creationId xmlns:a16="http://schemas.microsoft.com/office/drawing/2014/main" id="{02ECD1E4-9101-3262-0D42-72C9D63013A9}"/>
              </a:ext>
            </a:extLst>
          </p:cNvPr>
          <p:cNvSpPr/>
          <p:nvPr/>
        </p:nvSpPr>
        <p:spPr>
          <a:xfrm>
            <a:off x="6126480" y="4846320"/>
            <a:ext cx="5486400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打卡紀錄 APP 的 API 權杖　查看紀錄、新增紀錄、編輯紀錄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30766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9A0C8-8745-BD5E-85F1-E39BA4DB0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B6E999A-FEBB-9073-1B66-BAC0972DE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B7D7-A615-4EBC-AC00-85E88FB77C47}" type="slidenum">
              <a:rPr lang="zh-TW" alt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fld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74F1DFF8-F123-A67F-C4A6-C757D29F45FE}"/>
              </a:ext>
            </a:extLst>
          </p:cNvPr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9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 · 資料處理</a:t>
            </a:r>
            <a:endParaRPr lang="en-US" sz="12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D56EA28D-FAAF-9494-A2D3-7EB7E8E04552}"/>
              </a:ext>
            </a:extLst>
          </p:cNvPr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指令碼屬性設定－ LINE Bot、LIFF 網頁</a:t>
            </a:r>
            <a:endParaRPr lang="en-US" sz="28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591FA472-118A-5823-77AF-6453B745E389}"/>
              </a:ext>
            </a:extLst>
          </p:cNvPr>
          <p:cNvSpPr/>
          <p:nvPr/>
        </p:nvSpPr>
        <p:spPr>
          <a:xfrm>
            <a:off x="548640" y="117043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專案設定 → 指令碼屬性</a:t>
            </a:r>
            <a:endParaRPr lang="en-US" sz="13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82708E16-4EC2-B137-A3D7-B8BA96E59581}"/>
              </a:ext>
            </a:extLst>
          </p:cNvPr>
          <p:cNvSpPr/>
          <p:nvPr/>
        </p:nvSpPr>
        <p:spPr>
          <a:xfrm>
            <a:off x="548640" y="1874520"/>
            <a:ext cx="11064240" cy="411480"/>
          </a:xfrm>
          <a:prstGeom prst="rect">
            <a:avLst/>
          </a:prstGeom>
          <a:solidFill>
            <a:srgbClr val="0730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7E6556E4-2CCE-A7D8-E9F1-FF1744ABAF96}"/>
              </a:ext>
            </a:extLst>
          </p:cNvPr>
          <p:cNvSpPr/>
          <p:nvPr/>
        </p:nvSpPr>
        <p:spPr>
          <a:xfrm>
            <a:off x="548640" y="1874520"/>
            <a:ext cx="2651760" cy="4114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欄位（預設名稱）</a:t>
            </a:r>
            <a:endParaRPr lang="en-US" sz="12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49C51795-A6F7-4D78-B2AB-45973B635C02}"/>
              </a:ext>
            </a:extLst>
          </p:cNvPr>
          <p:cNvSpPr/>
          <p:nvPr/>
        </p:nvSpPr>
        <p:spPr>
          <a:xfrm>
            <a:off x="3200400" y="1874520"/>
            <a:ext cx="2926080" cy="4114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類型</a:t>
            </a:r>
            <a:endParaRPr lang="en-US" sz="12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1450362E-CBB7-9DB7-661B-5B4B3473F5A3}"/>
              </a:ext>
            </a:extLst>
          </p:cNvPr>
          <p:cNvSpPr/>
          <p:nvPr/>
        </p:nvSpPr>
        <p:spPr>
          <a:xfrm>
            <a:off x="6126480" y="1874520"/>
            <a:ext cx="5486400" cy="4114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</a:t>
            </a:r>
            <a:endParaRPr lang="en-US" sz="1200" dirty="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13CA2567-3172-B4F4-8D0E-1E6B5EB51103}"/>
              </a:ext>
            </a:extLst>
          </p:cNvPr>
          <p:cNvSpPr/>
          <p:nvPr/>
        </p:nvSpPr>
        <p:spPr>
          <a:xfrm>
            <a:off x="548640" y="2286000"/>
            <a:ext cx="110642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DD28E294-32E6-1A60-CCC2-752176B45DC6}"/>
              </a:ext>
            </a:extLst>
          </p:cNvPr>
          <p:cNvSpPr/>
          <p:nvPr/>
        </p:nvSpPr>
        <p:spPr>
          <a:xfrm>
            <a:off x="548640" y="2286000"/>
            <a:ext cx="26517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CHANNEL_ACCESS_TOKEN</a:t>
            </a:r>
            <a:endParaRPr lang="en-US" sz="120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B9CBD92E-A888-C12E-5841-345A7B1ABC71}"/>
              </a:ext>
            </a:extLst>
          </p:cNvPr>
          <p:cNvSpPr/>
          <p:nvPr/>
        </p:nvSpPr>
        <p:spPr>
          <a:xfrm>
            <a:off x="3200400" y="2286000"/>
            <a:ext cx="292608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API &gt; Channel access token</a:t>
            </a:r>
            <a:endParaRPr lang="en-US" sz="1200" dirty="0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224DA24D-0864-A4DB-F9ED-94581AA0DC73}"/>
              </a:ext>
            </a:extLst>
          </p:cNvPr>
          <p:cNvSpPr/>
          <p:nvPr/>
        </p:nvSpPr>
        <p:spPr>
          <a:xfrm>
            <a:off x="6126480" y="2286000"/>
            <a:ext cx="548640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－</a:t>
            </a:r>
            <a:endParaRPr lang="en-US" sz="1200" dirty="0"/>
          </a:p>
        </p:txBody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5604A3F6-5A1D-4F49-CB90-7B1C4C23AF1A}"/>
              </a:ext>
            </a:extLst>
          </p:cNvPr>
          <p:cNvSpPr/>
          <p:nvPr/>
        </p:nvSpPr>
        <p:spPr>
          <a:xfrm>
            <a:off x="548640" y="2798064"/>
            <a:ext cx="11064240" cy="512064"/>
          </a:xfrm>
          <a:prstGeom prst="rect">
            <a:avLst/>
          </a:prstGeom>
          <a:solidFill>
            <a:srgbClr val="F4F1EC"/>
          </a:solidFill>
          <a:ln w="9525">
            <a:solidFill>
              <a:srgbClr val="E2E6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B8B4A698-9A20-04D7-5AEE-A7874BCB4FE7}"/>
              </a:ext>
            </a:extLst>
          </p:cNvPr>
          <p:cNvSpPr/>
          <p:nvPr/>
        </p:nvSpPr>
        <p:spPr>
          <a:xfrm>
            <a:off x="548640" y="2798064"/>
            <a:ext cx="26517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CHANNEL_SECRET</a:t>
            </a:r>
            <a:endParaRPr lang="en-US" sz="1200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546F3EF9-DC4B-AF01-D26B-78EDFEF6B9AE}"/>
              </a:ext>
            </a:extLst>
          </p:cNvPr>
          <p:cNvSpPr/>
          <p:nvPr/>
        </p:nvSpPr>
        <p:spPr>
          <a:xfrm>
            <a:off x="3200400" y="2798064"/>
            <a:ext cx="292608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settings &gt; Channel secret</a:t>
            </a:r>
            <a:endParaRPr lang="en-US" sz="1200" dirty="0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FE6E9295-EC2E-4BAE-936B-2122D6082B80}"/>
              </a:ext>
            </a:extLst>
          </p:cNvPr>
          <p:cNvSpPr/>
          <p:nvPr/>
        </p:nvSpPr>
        <p:spPr>
          <a:xfrm>
            <a:off x="6126480" y="2798064"/>
            <a:ext cx="548640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－</a:t>
            </a:r>
            <a:endParaRPr lang="en-US" sz="1200" dirty="0"/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7306163E-F06F-6AE4-231D-388DD1D707E1}"/>
              </a:ext>
            </a:extLst>
          </p:cNvPr>
          <p:cNvSpPr/>
          <p:nvPr/>
        </p:nvSpPr>
        <p:spPr>
          <a:xfrm>
            <a:off x="548640" y="3310128"/>
            <a:ext cx="110642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A8D1EB58-0C56-C88A-BDC0-516B723F5772}"/>
              </a:ext>
            </a:extLst>
          </p:cNvPr>
          <p:cNvSpPr/>
          <p:nvPr/>
        </p:nvSpPr>
        <p:spPr>
          <a:xfrm>
            <a:off x="548640" y="3310128"/>
            <a:ext cx="26517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LIFF_BIND_URL</a:t>
            </a:r>
            <a:endParaRPr lang="en-US" sz="1200" dirty="0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9159307A-DA8C-F0E6-2A24-7A9C54FAE3F9}"/>
              </a:ext>
            </a:extLst>
          </p:cNvPr>
          <p:cNvSpPr/>
          <p:nvPr/>
        </p:nvSpPr>
        <p:spPr>
          <a:xfrm>
            <a:off x="3200400" y="3310128"/>
            <a:ext cx="292608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LIFF detail &gt; LIFF URL</a:t>
            </a:r>
            <a:endParaRPr lang="en-US" sz="1200" dirty="0"/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12D2B641-0ECA-6E46-8570-E1D55B9F44AF}"/>
              </a:ext>
            </a:extLst>
          </p:cNvPr>
          <p:cNvSpPr/>
          <p:nvPr/>
        </p:nvSpPr>
        <p:spPr>
          <a:xfrm>
            <a:off x="6126480" y="3310128"/>
            <a:ext cx="548640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－</a:t>
            </a:r>
            <a:endParaRPr lang="en-US" sz="1200" dirty="0"/>
          </a:p>
        </p:txBody>
      </p:sp>
      <p:sp>
        <p:nvSpPr>
          <p:cNvPr id="47" name="Shape 19">
            <a:extLst>
              <a:ext uri="{FF2B5EF4-FFF2-40B4-BE49-F238E27FC236}">
                <a16:creationId xmlns:a16="http://schemas.microsoft.com/office/drawing/2014/main" id="{98C28019-299C-2B7B-F828-6ABF6F44C25D}"/>
              </a:ext>
            </a:extLst>
          </p:cNvPr>
          <p:cNvSpPr/>
          <p:nvPr/>
        </p:nvSpPr>
        <p:spPr>
          <a:xfrm>
            <a:off x="548640" y="3822192"/>
            <a:ext cx="11064240" cy="950976"/>
          </a:xfrm>
          <a:prstGeom prst="rect">
            <a:avLst/>
          </a:prstGeom>
          <a:solidFill>
            <a:srgbClr val="F4F1EC"/>
          </a:solidFill>
          <a:ln w="9525">
            <a:solidFill>
              <a:srgbClr val="E2E6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237D6CC8-AC7D-1B17-6D0B-E0B087EDFE59}"/>
              </a:ext>
            </a:extLst>
          </p:cNvPr>
          <p:cNvSpPr/>
          <p:nvPr/>
        </p:nvSpPr>
        <p:spPr>
          <a:xfrm>
            <a:off x="548640" y="3822192"/>
            <a:ext cx="2651760" cy="95097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CLIENT_SECRET</a:t>
            </a:r>
            <a:endParaRPr lang="en-US" sz="1200" dirty="0"/>
          </a:p>
        </p:txBody>
      </p:sp>
      <p:sp>
        <p:nvSpPr>
          <p:cNvPr id="51" name="Text 21">
            <a:extLst>
              <a:ext uri="{FF2B5EF4-FFF2-40B4-BE49-F238E27FC236}">
                <a16:creationId xmlns:a16="http://schemas.microsoft.com/office/drawing/2014/main" id="{DA7B419B-BC45-AF65-6083-86A6DA50EB4F}"/>
              </a:ext>
            </a:extLst>
          </p:cNvPr>
          <p:cNvSpPr/>
          <p:nvPr/>
        </p:nvSpPr>
        <p:spPr>
          <a:xfrm>
            <a:off x="3200400" y="3822192"/>
            <a:ext cx="2926080" cy="95097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自訂密鑰</a:t>
            </a:r>
            <a:endParaRPr lang="en-US" sz="1200" dirty="0"/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CD7EB7F3-A98B-536B-F9D6-6E6D6979A3C3}"/>
              </a:ext>
            </a:extLst>
          </p:cNvPr>
          <p:cNvSpPr/>
          <p:nvPr/>
        </p:nvSpPr>
        <p:spPr>
          <a:xfrm>
            <a:off x="6126480" y="3822192"/>
            <a:ext cx="5486400" cy="95097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LIFF 前端呼叫 GAS 用的驗證密鑰，可在瀏覽器 Console 打 crypto.randomUUID() 快速產生一組隨機字串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93173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A6ED44C-CB32-DE0B-536D-CE234C4EA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B7D7-A615-4EBC-AC00-85E88FB77C47}" type="slidenum">
              <a:rPr lang="zh-TW" alt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11</a:t>
            </a:fld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2F3902DA-B5F2-4A74-EFBF-9A2A4DBC595C}"/>
              </a:ext>
            </a:extLst>
          </p:cNvPr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9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 · 部署上線</a:t>
            </a:r>
            <a:endParaRPr lang="en-US" sz="12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2FA305AF-9CA1-61EC-417C-09C2B0A324FA}"/>
              </a:ext>
            </a:extLst>
          </p:cNvPr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部署與 Webhook 設定</a:t>
            </a:r>
            <a:endParaRPr lang="en-US" sz="280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C3F18A43-DDBD-C4ED-5955-55D1C1DCF1DD}"/>
              </a:ext>
            </a:extLst>
          </p:cNvPr>
          <p:cNvSpPr/>
          <p:nvPr/>
        </p:nvSpPr>
        <p:spPr>
          <a:xfrm>
            <a:off x="822960" y="1965960"/>
            <a:ext cx="0" cy="3657600"/>
          </a:xfrm>
          <a:prstGeom prst="line">
            <a:avLst/>
          </a:prstGeom>
          <a:noFill/>
          <a:ln w="25400">
            <a:solidFill>
              <a:srgbClr val="E2E6E5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E1E32CB8-0F0A-B9C5-1928-7FF8A56CCC0D}"/>
              </a:ext>
            </a:extLst>
          </p:cNvPr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2F9696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1" name="Image 0" descr="/home/claude/icons/rocket_white.png">
            <a:extLst>
              <a:ext uri="{FF2B5EF4-FFF2-40B4-BE49-F238E27FC236}">
                <a16:creationId xmlns:a16="http://schemas.microsoft.com/office/drawing/2014/main" id="{36BE31F1-E7A7-7873-DB3E-40071C77F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" y="1834286"/>
            <a:ext cx="263347" cy="263347"/>
          </a:xfrm>
          <a:prstGeom prst="rect">
            <a:avLst/>
          </a:prstGeom>
        </p:spPr>
      </p:pic>
      <p:sp>
        <p:nvSpPr>
          <p:cNvPr id="25" name="Text 4">
            <a:extLst>
              <a:ext uri="{FF2B5EF4-FFF2-40B4-BE49-F238E27FC236}">
                <a16:creationId xmlns:a16="http://schemas.microsoft.com/office/drawing/2014/main" id="{DD9A445B-4395-8569-40F1-667B8E3D49AD}"/>
              </a:ext>
            </a:extLst>
          </p:cNvPr>
          <p:cNvSpPr/>
          <p:nvPr/>
        </p:nvSpPr>
        <p:spPr>
          <a:xfrm>
            <a:off x="1371600" y="1645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部署為網頁應用程式</a:t>
            </a:r>
            <a:endParaRPr lang="en-US" sz="16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A2D0C969-7C8F-5E78-AF75-9C265F2E7156}"/>
              </a:ext>
            </a:extLst>
          </p:cNvPr>
          <p:cNvSpPr/>
          <p:nvPr/>
        </p:nvSpPr>
        <p:spPr>
          <a:xfrm>
            <a:off x="1371600" y="203911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編輯器 → 部署 → 新增部署作業，類型選「網頁應用程式」，執行身分設為「我」，存取權設為「所有人」，取得部署網址。</a:t>
            </a:r>
            <a:endParaRPr lang="en-US" sz="1400" dirty="0"/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6FA1248E-F979-B262-5B19-8EDDA2AF278E}"/>
              </a:ext>
            </a:extLst>
          </p:cNvPr>
          <p:cNvSpPr/>
          <p:nvPr/>
        </p:nvSpPr>
        <p:spPr>
          <a:xfrm>
            <a:off x="548640" y="2880360"/>
            <a:ext cx="548640" cy="548640"/>
          </a:xfrm>
          <a:prstGeom prst="ellipse">
            <a:avLst/>
          </a:prstGeom>
          <a:solidFill>
            <a:srgbClr val="2F9696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37" name="Image 1" descr="/home/claude/icons/link_white.png">
            <a:extLst>
              <a:ext uri="{FF2B5EF4-FFF2-40B4-BE49-F238E27FC236}">
                <a16:creationId xmlns:a16="http://schemas.microsoft.com/office/drawing/2014/main" id="{BEE20DA0-4C87-150D-317F-B50DF1CE2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3023006"/>
            <a:ext cx="263347" cy="263347"/>
          </a:xfrm>
          <a:prstGeom prst="rect">
            <a:avLst/>
          </a:prstGeom>
        </p:spPr>
      </p:pic>
      <p:sp>
        <p:nvSpPr>
          <p:cNvPr id="41" name="Text 7">
            <a:extLst>
              <a:ext uri="{FF2B5EF4-FFF2-40B4-BE49-F238E27FC236}">
                <a16:creationId xmlns:a16="http://schemas.microsoft.com/office/drawing/2014/main" id="{BC82B1B0-032F-BBE8-6DCD-E4ECE8E627A3}"/>
              </a:ext>
            </a:extLst>
          </p:cNvPr>
          <p:cNvSpPr/>
          <p:nvPr/>
        </p:nvSpPr>
        <p:spPr>
          <a:xfrm>
            <a:off x="1371600" y="2834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 LINE Webhook</a:t>
            </a:r>
            <a:endParaRPr lang="en-US" sz="1600" dirty="0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080342CC-5270-CD58-4EB5-9FA48E2F7B1D}"/>
              </a:ext>
            </a:extLst>
          </p:cNvPr>
          <p:cNvSpPr/>
          <p:nvPr/>
        </p:nvSpPr>
        <p:spPr>
          <a:xfrm>
            <a:off x="1371600" y="32278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LINE Developers 該 Channel 頁面，於 Webhook settings &gt; Webhook URL 貼上部署網址，並開啟「Use webhook」。</a:t>
            </a:r>
            <a:endParaRPr lang="en-US" sz="1400" dirty="0"/>
          </a:p>
        </p:txBody>
      </p:sp>
      <p:sp>
        <p:nvSpPr>
          <p:cNvPr id="47" name="Shape 9">
            <a:extLst>
              <a:ext uri="{FF2B5EF4-FFF2-40B4-BE49-F238E27FC236}">
                <a16:creationId xmlns:a16="http://schemas.microsoft.com/office/drawing/2014/main" id="{5034664D-DB70-0210-8B81-920E0BDF98A7}"/>
              </a:ext>
            </a:extLst>
          </p:cNvPr>
          <p:cNvSpPr/>
          <p:nvPr/>
        </p:nvSpPr>
        <p:spPr>
          <a:xfrm>
            <a:off x="548640" y="4069080"/>
            <a:ext cx="548640" cy="548640"/>
          </a:xfrm>
          <a:prstGeom prst="ellipse">
            <a:avLst/>
          </a:prstGeom>
          <a:solidFill>
            <a:srgbClr val="2F9696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49" name="Image 2" descr="/home/claude/icons/schedule_white.png">
            <a:extLst>
              <a:ext uri="{FF2B5EF4-FFF2-40B4-BE49-F238E27FC236}">
                <a16:creationId xmlns:a16="http://schemas.microsoft.com/office/drawing/2014/main" id="{F9E89DBC-6889-3B2A-8A7E-F9099B83F8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" y="4211726"/>
            <a:ext cx="263347" cy="263347"/>
          </a:xfrm>
          <a:prstGeom prst="rect">
            <a:avLst/>
          </a:prstGeom>
        </p:spPr>
      </p:pic>
      <p:sp>
        <p:nvSpPr>
          <p:cNvPr id="51" name="Text 10">
            <a:extLst>
              <a:ext uri="{FF2B5EF4-FFF2-40B4-BE49-F238E27FC236}">
                <a16:creationId xmlns:a16="http://schemas.microsoft.com/office/drawing/2014/main" id="{59C345CB-C661-4716-9AD0-001D6A0BD4CE}"/>
              </a:ext>
            </a:extLst>
          </p:cNvPr>
          <p:cNvSpPr/>
          <p:nvPr/>
        </p:nvSpPr>
        <p:spPr>
          <a:xfrm>
            <a:off x="1371600" y="4023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建立時間驅動觸發器</a:t>
            </a:r>
            <a:endParaRPr lang="en-US" sz="1600" dirty="0"/>
          </a:p>
        </p:txBody>
      </p:sp>
      <p:sp>
        <p:nvSpPr>
          <p:cNvPr id="53" name="Text 11">
            <a:extLst>
              <a:ext uri="{FF2B5EF4-FFF2-40B4-BE49-F238E27FC236}">
                <a16:creationId xmlns:a16="http://schemas.microsoft.com/office/drawing/2014/main" id="{77975A4B-90E6-6A6F-2817-040D515235F9}"/>
              </a:ext>
            </a:extLst>
          </p:cNvPr>
          <p:cNvSpPr/>
          <p:nvPr/>
        </p:nvSpPr>
        <p:spPr>
          <a:xfrm>
            <a:off x="1371600" y="4416552"/>
            <a:ext cx="10058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編輯器左側「觸發條件」新增觸發器，選擇 Reminder.gs </a:t>
            </a:r>
            <a:r>
              <a:rPr lang="en-US" sz="1400" dirty="0" err="1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對應的提醒函式，事件來源選「時間驅動</a:t>
            </a:r>
            <a:r>
              <a:rPr lang="en-US" sz="140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」</a:t>
            </a:r>
            <a:r>
              <a:rPr lang="zh-TW" altLang="en-US" sz="140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altLang="zh-TW" sz="1400" dirty="0">
              <a:solidFill>
                <a:srgbClr val="7C8A9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altLang="zh-TW" sz="110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zh-TW" altLang="en-US" sz="110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提醒函式：時間驅動、時間型觸發分鐘計時器、時間間隔每</a:t>
            </a:r>
            <a:r>
              <a:rPr lang="en-US" altLang="zh-TW" sz="110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r>
              <a:rPr lang="zh-TW" altLang="en-US" sz="110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分鐘</a:t>
            </a:r>
            <a:endParaRPr lang="en-US" altLang="zh-TW" sz="1100" i="1" dirty="0">
              <a:solidFill>
                <a:srgbClr val="7C8A9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altLang="zh-TW" sz="110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zh-TW" altLang="en-US" sz="110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清除提醒函示：時間驅動、時間型觸發日計時器、時段午夜到上午</a:t>
            </a:r>
            <a:r>
              <a:rPr lang="en-US" altLang="zh-TW" sz="110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zh-TW" altLang="en-US" sz="1100" i="1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</a:t>
            </a:r>
            <a:endParaRPr lang="en-US" altLang="zh-TW" sz="1100" i="1" dirty="0">
              <a:solidFill>
                <a:srgbClr val="7C8A9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5" name="Shape 12">
            <a:extLst>
              <a:ext uri="{FF2B5EF4-FFF2-40B4-BE49-F238E27FC236}">
                <a16:creationId xmlns:a16="http://schemas.microsoft.com/office/drawing/2014/main" id="{0CD53445-DFCE-7C5C-E916-BCBA16A1F51E}"/>
              </a:ext>
            </a:extLst>
          </p:cNvPr>
          <p:cNvSpPr/>
          <p:nvPr/>
        </p:nvSpPr>
        <p:spPr>
          <a:xfrm>
            <a:off x="548640" y="5257800"/>
            <a:ext cx="548640" cy="548640"/>
          </a:xfrm>
          <a:prstGeom prst="ellipse">
            <a:avLst/>
          </a:prstGeom>
          <a:solidFill>
            <a:srgbClr val="2F9696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57" name="Image 3" descr="/home/claude/icons/menu_white.png">
            <a:extLst>
              <a:ext uri="{FF2B5EF4-FFF2-40B4-BE49-F238E27FC236}">
                <a16:creationId xmlns:a16="http://schemas.microsoft.com/office/drawing/2014/main" id="{B897184D-773F-EEF9-4DBC-EAC1DCE171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86" y="5400446"/>
            <a:ext cx="263347" cy="263347"/>
          </a:xfrm>
          <a:prstGeom prst="rect">
            <a:avLst/>
          </a:prstGeom>
        </p:spPr>
      </p:pic>
      <p:sp>
        <p:nvSpPr>
          <p:cNvPr id="59" name="Text 13">
            <a:extLst>
              <a:ext uri="{FF2B5EF4-FFF2-40B4-BE49-F238E27FC236}">
                <a16:creationId xmlns:a16="http://schemas.microsoft.com/office/drawing/2014/main" id="{343C5718-730A-521E-5707-D1BA140E0C15}"/>
              </a:ext>
            </a:extLst>
          </p:cNvPr>
          <p:cNvSpPr/>
          <p:nvPr/>
        </p:nvSpPr>
        <p:spPr>
          <a:xfrm>
            <a:off x="1371600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建立圖文選單</a:t>
            </a:r>
            <a:endParaRPr lang="en-US" sz="1600" dirty="0"/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A9E8E358-7207-F15B-6E4F-ED26922503B6}"/>
              </a:ext>
            </a:extLst>
          </p:cNvPr>
          <p:cNvSpPr/>
          <p:nvPr/>
        </p:nvSpPr>
        <p:spPr>
          <a:xfrm>
            <a:off x="1371600" y="560527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於 LINE 官方帳號後台建立圖文選單，按鈕動作對應綁定頁與打卡頁的 LIFF 網址。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46596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BE32A9E-62F6-DE4E-2DC9-5055034B1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B7D7-A615-4EBC-AC00-85E88FB77C47}" type="slidenum">
              <a:rPr lang="zh-TW" alt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fld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950CC874-AFF2-9EE0-1370-E5EC9222673B}"/>
              </a:ext>
            </a:extLst>
          </p:cNvPr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9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2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8A526731-367D-F33E-3A45-475288BC78D8}"/>
              </a:ext>
            </a:extLst>
          </p:cNvPr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測試與上線 Checklist</a:t>
            </a:r>
            <a:endParaRPr lang="en-US" sz="280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D235378F-0BE5-6245-E9C1-7A34E169AD0A}"/>
              </a:ext>
            </a:extLst>
          </p:cNvPr>
          <p:cNvSpPr/>
          <p:nvPr/>
        </p:nvSpPr>
        <p:spPr>
          <a:xfrm>
            <a:off x="548640" y="1737360"/>
            <a:ext cx="365760" cy="365760"/>
          </a:xfrm>
          <a:prstGeom prst="roundRect">
            <a:avLst>
              <a:gd name="adj" fmla="val 20000"/>
            </a:avLst>
          </a:prstGeom>
          <a:noFill/>
          <a:ln w="15875">
            <a:solidFill>
              <a:srgbClr val="2F9696"/>
            </a:solidFill>
            <a:prstDash val="solid"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53C730CF-95C4-2180-8C4A-FB842453C1AB}"/>
              </a:ext>
            </a:extLst>
          </p:cNvPr>
          <p:cNvSpPr/>
          <p:nvPr/>
        </p:nvSpPr>
        <p:spPr>
          <a:xfrm>
            <a:off x="109728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正常上班／下班打卡，資料正確寫入 Kintone</a:t>
            </a:r>
            <a:endParaRPr lang="en-US" sz="1400" dirty="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6EABCFDF-2A24-B1C5-D9E1-68B5D5170D7B}"/>
              </a:ext>
            </a:extLst>
          </p:cNvPr>
          <p:cNvSpPr/>
          <p:nvPr/>
        </p:nvSpPr>
        <p:spPr>
          <a:xfrm>
            <a:off x="6263640" y="1737360"/>
            <a:ext cx="365760" cy="365760"/>
          </a:xfrm>
          <a:prstGeom prst="roundRect">
            <a:avLst>
              <a:gd name="adj" fmla="val 20000"/>
            </a:avLst>
          </a:prstGeom>
          <a:noFill/>
          <a:ln w="15875">
            <a:solidFill>
              <a:srgbClr val="2F9696"/>
            </a:solidFill>
            <a:prstDash val="solid"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1B59708D-64DB-BD34-6111-15E78673CC0E}"/>
              </a:ext>
            </a:extLst>
          </p:cNvPr>
          <p:cNvSpPr/>
          <p:nvPr/>
        </p:nvSpPr>
        <p:spPr>
          <a:xfrm>
            <a:off x="681228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重複打卡防呆（今天已打過卡的提示）</a:t>
            </a:r>
            <a:endParaRPr lang="en-US" sz="1400" dirty="0"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A9322F33-43EC-FD4F-B14F-27EEBBC7EA4E}"/>
              </a:ext>
            </a:extLst>
          </p:cNvPr>
          <p:cNvSpPr/>
          <p:nvPr/>
        </p:nvSpPr>
        <p:spPr>
          <a:xfrm>
            <a:off x="548640" y="2514600"/>
            <a:ext cx="365760" cy="365760"/>
          </a:xfrm>
          <a:prstGeom prst="roundRect">
            <a:avLst>
              <a:gd name="adj" fmla="val 20000"/>
            </a:avLst>
          </a:prstGeom>
          <a:noFill/>
          <a:ln w="15875">
            <a:solidFill>
              <a:srgbClr val="2F9696"/>
            </a:solidFill>
            <a:prstDash val="solid"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27647C2D-ADAC-E750-29D6-71D295F4AC7C}"/>
              </a:ext>
            </a:extLst>
          </p:cNvPr>
          <p:cNvSpPr/>
          <p:nvPr/>
        </p:nvSpPr>
        <p:spPr>
          <a:xfrm>
            <a:off x="1097280" y="2468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遲到／早退分鐘數自動計算正確</a:t>
            </a:r>
            <a:endParaRPr lang="en-US" sz="1400" dirty="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BD9CD953-897C-0812-1354-D02054D1F0B8}"/>
              </a:ext>
            </a:extLst>
          </p:cNvPr>
          <p:cNvSpPr/>
          <p:nvPr/>
        </p:nvSpPr>
        <p:spPr>
          <a:xfrm>
            <a:off x="6263640" y="2514600"/>
            <a:ext cx="365760" cy="365760"/>
          </a:xfrm>
          <a:prstGeom prst="roundRect">
            <a:avLst>
              <a:gd name="adj" fmla="val 20000"/>
            </a:avLst>
          </a:prstGeom>
          <a:noFill/>
          <a:ln w="15875">
            <a:solidFill>
              <a:srgbClr val="2F9696"/>
            </a:solidFill>
            <a:prstDash val="solid"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4FB6EA5E-6D28-7BF0-CB65-96380BCF8A08}"/>
              </a:ext>
            </a:extLst>
          </p:cNvPr>
          <p:cNvSpPr/>
          <p:nvPr/>
        </p:nvSpPr>
        <p:spPr>
          <a:xfrm>
            <a:off x="6812280" y="2468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1400" dirty="0">
                <a:solidFill>
                  <a:srgbClr val="073040"/>
                </a:solidFill>
                <a:latin typeface="Calibri" pitchFamily="34" charset="0"/>
                <a:cs typeface="Calibri" pitchFamily="34" charset="-120"/>
              </a:rPr>
              <a:t>工作分鐘數計算正確</a:t>
            </a:r>
            <a:endParaRPr lang="en-US" altLang="zh-TW" sz="1400" dirty="0"/>
          </a:p>
        </p:txBody>
      </p:sp>
      <p:sp>
        <p:nvSpPr>
          <p:cNvPr id="37" name="Shape 10">
            <a:extLst>
              <a:ext uri="{FF2B5EF4-FFF2-40B4-BE49-F238E27FC236}">
                <a16:creationId xmlns:a16="http://schemas.microsoft.com/office/drawing/2014/main" id="{6D09037D-2189-9A21-3C02-ACCB58AD636F}"/>
              </a:ext>
            </a:extLst>
          </p:cNvPr>
          <p:cNvSpPr/>
          <p:nvPr/>
        </p:nvSpPr>
        <p:spPr>
          <a:xfrm>
            <a:off x="548640" y="3291840"/>
            <a:ext cx="365760" cy="365760"/>
          </a:xfrm>
          <a:prstGeom prst="roundRect">
            <a:avLst>
              <a:gd name="adj" fmla="val 20000"/>
            </a:avLst>
          </a:prstGeom>
          <a:noFill/>
          <a:ln w="15875">
            <a:solidFill>
              <a:srgbClr val="2F9696"/>
            </a:solidFill>
            <a:prstDash val="solid"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D49838B6-7831-E5A8-048A-66F613125998}"/>
              </a:ext>
            </a:extLst>
          </p:cNvPr>
          <p:cNvSpPr/>
          <p:nvPr/>
        </p:nvSpPr>
        <p:spPr>
          <a:xfrm>
            <a:off x="1097280" y="3246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圖文選單三個按鈕動作正確對應</a:t>
            </a:r>
            <a:endParaRPr lang="en-US" sz="1400" dirty="0"/>
          </a:p>
        </p:txBody>
      </p:sp>
      <p:sp>
        <p:nvSpPr>
          <p:cNvPr id="43" name="Shape 12">
            <a:extLst>
              <a:ext uri="{FF2B5EF4-FFF2-40B4-BE49-F238E27FC236}">
                <a16:creationId xmlns:a16="http://schemas.microsoft.com/office/drawing/2014/main" id="{6D816B37-5764-3000-50E5-27718E5BF800}"/>
              </a:ext>
            </a:extLst>
          </p:cNvPr>
          <p:cNvSpPr/>
          <p:nvPr/>
        </p:nvSpPr>
        <p:spPr>
          <a:xfrm>
            <a:off x="6263640" y="3291840"/>
            <a:ext cx="365760" cy="365760"/>
          </a:xfrm>
          <a:prstGeom prst="roundRect">
            <a:avLst>
              <a:gd name="adj" fmla="val 20000"/>
            </a:avLst>
          </a:prstGeom>
          <a:noFill/>
          <a:ln w="15875">
            <a:solidFill>
              <a:srgbClr val="2F9696"/>
            </a:solidFill>
            <a:prstDash val="solid"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46" name="Text 13">
            <a:extLst>
              <a:ext uri="{FF2B5EF4-FFF2-40B4-BE49-F238E27FC236}">
                <a16:creationId xmlns:a16="http://schemas.microsoft.com/office/drawing/2014/main" id="{1937583C-55C1-6835-F9DC-14C342155E00}"/>
              </a:ext>
            </a:extLst>
          </p:cNvPr>
          <p:cNvSpPr/>
          <p:nvPr/>
        </p:nvSpPr>
        <p:spPr>
          <a:xfrm>
            <a:off x="6812280" y="3246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月報表出勤率、日曆、單日明細顯示正確</a:t>
            </a:r>
            <a:endParaRPr lang="en-US" sz="1400" dirty="0"/>
          </a:p>
        </p:txBody>
      </p:sp>
      <p:sp>
        <p:nvSpPr>
          <p:cNvPr id="49" name="Shape 14">
            <a:extLst>
              <a:ext uri="{FF2B5EF4-FFF2-40B4-BE49-F238E27FC236}">
                <a16:creationId xmlns:a16="http://schemas.microsoft.com/office/drawing/2014/main" id="{FCD47890-7460-85C6-A57D-4E9D8AADEBE8}"/>
              </a:ext>
            </a:extLst>
          </p:cNvPr>
          <p:cNvSpPr/>
          <p:nvPr/>
        </p:nvSpPr>
        <p:spPr>
          <a:xfrm>
            <a:off x="548640" y="4069080"/>
            <a:ext cx="365760" cy="365760"/>
          </a:xfrm>
          <a:prstGeom prst="roundRect">
            <a:avLst>
              <a:gd name="adj" fmla="val 20000"/>
            </a:avLst>
          </a:prstGeom>
          <a:noFill/>
          <a:ln w="15875">
            <a:solidFill>
              <a:srgbClr val="2F9696"/>
            </a:solidFill>
            <a:prstDash val="solid"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C5F1278C-76FC-FB4E-2192-BFCE93760F00}"/>
              </a:ext>
            </a:extLst>
          </p:cNvPr>
          <p:cNvSpPr/>
          <p:nvPr/>
        </p:nvSpPr>
        <p:spPr>
          <a:xfrm>
            <a:off x="1097280" y="4023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Webhook 與時間驅動觸發器運作正常</a:t>
            </a:r>
            <a:endParaRPr lang="en-US" sz="1400" dirty="0"/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A05051B9-8068-EB10-DC61-274EDD17EA56}"/>
              </a:ext>
            </a:extLst>
          </p:cNvPr>
          <p:cNvSpPr/>
          <p:nvPr/>
        </p:nvSpPr>
        <p:spPr>
          <a:xfrm>
            <a:off x="6263640" y="4069080"/>
            <a:ext cx="365760" cy="365760"/>
          </a:xfrm>
          <a:prstGeom prst="roundRect">
            <a:avLst>
              <a:gd name="adj" fmla="val 20000"/>
            </a:avLst>
          </a:prstGeom>
          <a:noFill/>
          <a:ln w="15875">
            <a:solidFill>
              <a:srgbClr val="2F9696"/>
            </a:solidFill>
            <a:prstDash val="solid"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464019F8-58DA-6F61-2CAB-6508C100BD5A}"/>
              </a:ext>
            </a:extLst>
          </p:cNvPr>
          <p:cNvSpPr/>
          <p:nvPr/>
        </p:nvSpPr>
        <p:spPr>
          <a:xfrm>
            <a:off x="6812280" y="4023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忘記打卡提醒（上班前 / 下班後）準時推播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84409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07354B9-08A6-53F9-15A9-DA1FD723F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B7D7-A615-4EBC-AC00-85E88FB77C47}" type="slidenum">
              <a:rPr lang="zh-TW" alt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13</a:t>
            </a:fld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794EB157-C3D4-C039-54FC-55DD384CF72A}"/>
              </a:ext>
            </a:extLst>
          </p:cNvPr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9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2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C74117FD-36FB-850E-2807-0CC0022360B4}"/>
              </a:ext>
            </a:extLst>
          </p:cNvPr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上線後維運與支援</a:t>
            </a:r>
            <a:endParaRPr lang="en-US" sz="280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5AFC54B1-4ED3-E6B3-A226-654E9658CA99}"/>
              </a:ext>
            </a:extLst>
          </p:cNvPr>
          <p:cNvSpPr/>
          <p:nvPr/>
        </p:nvSpPr>
        <p:spPr>
          <a:xfrm>
            <a:off x="548640" y="1828800"/>
            <a:ext cx="350215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6E5"/>
            </a:solidFill>
            <a:prstDash val="solid"/>
          </a:ln>
          <a:effectLst>
            <a:outerShdw blurRad="127000" dist="25400" dir="5400000" algn="bl" rotWithShape="0">
              <a:srgbClr val="07304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DC7900D5-54C0-E35A-C999-8087B2B18CC0}"/>
              </a:ext>
            </a:extLst>
          </p:cNvPr>
          <p:cNvSpPr/>
          <p:nvPr/>
        </p:nvSpPr>
        <p:spPr>
          <a:xfrm>
            <a:off x="1933956" y="2194560"/>
            <a:ext cx="731520" cy="731520"/>
          </a:xfrm>
          <a:prstGeom prst="ellipse">
            <a:avLst/>
          </a:prstGeom>
          <a:solidFill>
            <a:srgbClr val="2F9696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1" name="Image 0" descr="/home/claude/icons/schedule_white.png">
            <a:extLst>
              <a:ext uri="{FF2B5EF4-FFF2-40B4-BE49-F238E27FC236}">
                <a16:creationId xmlns:a16="http://schemas.microsoft.com/office/drawing/2014/main" id="{951FBAE9-0931-91C8-85F1-F98C88C59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151" y="2384755"/>
            <a:ext cx="351130" cy="351130"/>
          </a:xfrm>
          <a:prstGeom prst="rect">
            <a:avLst/>
          </a:prstGeom>
        </p:spPr>
      </p:pic>
      <p:sp>
        <p:nvSpPr>
          <p:cNvPr id="25" name="Text 4">
            <a:extLst>
              <a:ext uri="{FF2B5EF4-FFF2-40B4-BE49-F238E27FC236}">
                <a16:creationId xmlns:a16="http://schemas.microsoft.com/office/drawing/2014/main" id="{841C24F2-6C58-3D18-127F-BB7FA2152784}"/>
              </a:ext>
            </a:extLst>
          </p:cNvPr>
          <p:cNvSpPr/>
          <p:nvPr/>
        </p:nvSpPr>
        <p:spPr>
          <a:xfrm>
            <a:off x="731520" y="310896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</a:t>
            </a:r>
            <a:endParaRPr lang="en-US" sz="160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7F4E4E87-DDB6-383B-D6A3-3EC54A148B12}"/>
              </a:ext>
            </a:extLst>
          </p:cNvPr>
          <p:cNvSpPr/>
          <p:nvPr/>
        </p:nvSpPr>
        <p:spPr>
          <a:xfrm>
            <a:off x="731520" y="3566160"/>
            <a:ext cx="31363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30000"/>
              </a:lnSpc>
            </a:pPr>
            <a:r>
              <a:rPr lang="en-US" altLang="zh-TW" sz="140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</a:t>
            </a:r>
            <a:r>
              <a:rPr lang="en-US" altLang="zh-TW" sz="1400" dirty="0" err="1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編輯器</a:t>
            </a:r>
            <a:r>
              <a:rPr lang="zh-TW" altLang="en-US" sz="140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中設置觸發條件，</a:t>
            </a:r>
            <a:r>
              <a:rPr lang="en-US" sz="1400" dirty="0" err="1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自動清空提醒紀錄（clearAllReminders</a:t>
            </a:r>
            <a:r>
              <a:rPr lang="en-US" sz="140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），</a:t>
            </a:r>
            <a:r>
              <a:rPr lang="zh-TW" altLang="en-US" sz="140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</a:t>
            </a:r>
            <a:r>
              <a:rPr lang="en-US" sz="1400" dirty="0" err="1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</a:t>
            </a:r>
            <a:r>
              <a:rPr lang="en-US" sz="140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Script Properties 累積爆量。</a:t>
            </a:r>
            <a:endParaRPr lang="en-US" sz="1400" dirty="0"/>
          </a:p>
        </p:txBody>
      </p:sp>
      <p:sp>
        <p:nvSpPr>
          <p:cNvPr id="29" name="Shape 6">
            <a:extLst>
              <a:ext uri="{FF2B5EF4-FFF2-40B4-BE49-F238E27FC236}">
                <a16:creationId xmlns:a16="http://schemas.microsoft.com/office/drawing/2014/main" id="{E34BC599-DAF7-1053-B4CF-E04FFEB3B7A5}"/>
              </a:ext>
            </a:extLst>
          </p:cNvPr>
          <p:cNvSpPr/>
          <p:nvPr/>
        </p:nvSpPr>
        <p:spPr>
          <a:xfrm>
            <a:off x="4325112" y="1828800"/>
            <a:ext cx="350215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6E5"/>
            </a:solidFill>
            <a:prstDash val="solid"/>
          </a:ln>
          <a:effectLst>
            <a:outerShdw blurRad="127000" dist="25400" dir="5400000" algn="bl" rotWithShape="0">
              <a:srgbClr val="07304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65AC8F1A-1310-38C0-126B-50E82CF6F720}"/>
              </a:ext>
            </a:extLst>
          </p:cNvPr>
          <p:cNvSpPr/>
          <p:nvPr/>
        </p:nvSpPr>
        <p:spPr>
          <a:xfrm>
            <a:off x="5710428" y="2194560"/>
            <a:ext cx="731520" cy="731520"/>
          </a:xfrm>
          <a:prstGeom prst="ellipse">
            <a:avLst/>
          </a:prstGeom>
          <a:solidFill>
            <a:srgbClr val="2F9696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33" name="Image 1" descr="/home/claude/icons/check_white.png">
            <a:extLst>
              <a:ext uri="{FF2B5EF4-FFF2-40B4-BE49-F238E27FC236}">
                <a16:creationId xmlns:a16="http://schemas.microsoft.com/office/drawing/2014/main" id="{CBE97741-7107-B723-5472-3DC1FA79A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623" y="2384755"/>
            <a:ext cx="351130" cy="351130"/>
          </a:xfrm>
          <a:prstGeom prst="rect">
            <a:avLst/>
          </a:prstGeom>
        </p:spPr>
      </p:pic>
      <p:sp>
        <p:nvSpPr>
          <p:cNvPr id="35" name="Text 8">
            <a:extLst>
              <a:ext uri="{FF2B5EF4-FFF2-40B4-BE49-F238E27FC236}">
                <a16:creationId xmlns:a16="http://schemas.microsoft.com/office/drawing/2014/main" id="{0D3CAA7A-088A-6237-D740-EC58A54C792C}"/>
              </a:ext>
            </a:extLst>
          </p:cNvPr>
          <p:cNvSpPr/>
          <p:nvPr/>
        </p:nvSpPr>
        <p:spPr>
          <a:xfrm>
            <a:off x="4507992" y="310896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每次上線初期</a:t>
            </a:r>
            <a:endParaRPr lang="en-US" sz="16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C25C9EC2-995A-26EA-98FF-787157370CFC}"/>
              </a:ext>
            </a:extLst>
          </p:cNvPr>
          <p:cNvSpPr/>
          <p:nvPr/>
        </p:nvSpPr>
        <p:spPr>
          <a:xfrm>
            <a:off x="4507992" y="3566160"/>
            <a:ext cx="31363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 err="1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觀察</a:t>
            </a:r>
            <a:r>
              <a:rPr lang="zh-TW" altLang="en-US" sz="140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打卡提醒、</a:t>
            </a:r>
            <a:r>
              <a:rPr lang="en-US" sz="1400" dirty="0" err="1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打卡成功率、異常打卡</a:t>
            </a:r>
            <a:r>
              <a:rPr lang="zh-TW" altLang="en-US" sz="140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等功能是否能正常運作</a:t>
            </a:r>
            <a:r>
              <a:rPr lang="en-US" sz="140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400" dirty="0"/>
          </a:p>
        </p:txBody>
      </p:sp>
      <p:sp>
        <p:nvSpPr>
          <p:cNvPr id="39" name="Shape 10">
            <a:extLst>
              <a:ext uri="{FF2B5EF4-FFF2-40B4-BE49-F238E27FC236}">
                <a16:creationId xmlns:a16="http://schemas.microsoft.com/office/drawing/2014/main" id="{16393468-DDB1-2E76-5CF6-946D9876C151}"/>
              </a:ext>
            </a:extLst>
          </p:cNvPr>
          <p:cNvSpPr/>
          <p:nvPr/>
        </p:nvSpPr>
        <p:spPr>
          <a:xfrm>
            <a:off x="8101584" y="1828800"/>
            <a:ext cx="350215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6E5"/>
            </a:solidFill>
            <a:prstDash val="solid"/>
          </a:ln>
          <a:effectLst>
            <a:outerShdw blurRad="127000" dist="25400" dir="5400000" algn="bl" rotWithShape="0">
              <a:srgbClr val="07304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11">
            <a:extLst>
              <a:ext uri="{FF2B5EF4-FFF2-40B4-BE49-F238E27FC236}">
                <a16:creationId xmlns:a16="http://schemas.microsoft.com/office/drawing/2014/main" id="{84075024-611D-6E50-3B94-67A614C85A6F}"/>
              </a:ext>
            </a:extLst>
          </p:cNvPr>
          <p:cNvSpPr/>
          <p:nvPr/>
        </p:nvSpPr>
        <p:spPr>
          <a:xfrm>
            <a:off x="9486900" y="2194560"/>
            <a:ext cx="731520" cy="731520"/>
          </a:xfrm>
          <a:prstGeom prst="ellipse">
            <a:avLst/>
          </a:prstGeom>
          <a:solidFill>
            <a:srgbClr val="2F9696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43" name="Image 2" descr="/home/claude/icons/gear_white.png">
            <a:extLst>
              <a:ext uri="{FF2B5EF4-FFF2-40B4-BE49-F238E27FC236}">
                <a16:creationId xmlns:a16="http://schemas.microsoft.com/office/drawing/2014/main" id="{A12B5FB3-86A9-C8A1-EABC-F18E5FE87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095" y="2384755"/>
            <a:ext cx="351130" cy="351130"/>
          </a:xfrm>
          <a:prstGeom prst="rect">
            <a:avLst/>
          </a:prstGeom>
        </p:spPr>
      </p:pic>
      <p:sp>
        <p:nvSpPr>
          <p:cNvPr id="45" name="Text 12">
            <a:extLst>
              <a:ext uri="{FF2B5EF4-FFF2-40B4-BE49-F238E27FC236}">
                <a16:creationId xmlns:a16="http://schemas.microsoft.com/office/drawing/2014/main" id="{839C8D6E-39FB-91D9-1492-9E83EDC5260C}"/>
              </a:ext>
            </a:extLst>
          </p:cNvPr>
          <p:cNvSpPr/>
          <p:nvPr/>
        </p:nvSpPr>
        <p:spPr>
          <a:xfrm>
            <a:off x="8284464" y="310896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換客戶</a:t>
            </a:r>
            <a:r>
              <a:rPr lang="en-US" sz="16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／</a:t>
            </a:r>
            <a:r>
              <a:rPr lang="zh-TW" altLang="en-US" sz="1600" b="1" dirty="0">
                <a:solidFill>
                  <a:srgbClr val="07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有欄位更名需求</a:t>
            </a:r>
            <a:endParaRPr lang="en-US" sz="1600" dirty="0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0E2482EB-6BCB-F4AC-6E7F-84A625AA0265}"/>
              </a:ext>
            </a:extLst>
          </p:cNvPr>
          <p:cNvSpPr/>
          <p:nvPr/>
        </p:nvSpPr>
        <p:spPr>
          <a:xfrm>
            <a:off x="8284464" y="3566160"/>
            <a:ext cx="31363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只需調整 FIELDS / VALUES / RULES </a:t>
            </a:r>
            <a:r>
              <a:rPr lang="en-US" sz="1400" dirty="0" err="1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設定物件</a:t>
            </a:r>
            <a:r>
              <a:rPr lang="zh-TW" altLang="en-US" sz="140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，參考簡報</a:t>
            </a:r>
            <a:r>
              <a:rPr lang="en-US" altLang="zh-TW" sz="140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</a:t>
            </a:r>
            <a:r>
              <a:rPr lang="zh-TW" altLang="en-US" sz="140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、</a:t>
            </a:r>
            <a:r>
              <a:rPr lang="en-US" altLang="zh-TW" sz="140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P8</a:t>
            </a:r>
            <a:r>
              <a:rPr lang="en-US" sz="1400" dirty="0">
                <a:solidFill>
                  <a:srgbClr val="7C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74625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163B270-03F9-39A9-34C9-2E9EA517E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B7D7-A615-4EBC-AC00-85E88FB77C47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A022A0F-81C4-64F9-7F36-09CD420021E3}"/>
              </a:ext>
            </a:extLst>
          </p:cNvPr>
          <p:cNvSpPr/>
          <p:nvPr/>
        </p:nvSpPr>
        <p:spPr>
          <a:xfrm>
            <a:off x="0" y="310896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感謝閱讀</a:t>
            </a:r>
            <a:endParaRPr 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BFBEEAD0-8B1D-42CA-A124-43891C5FC998}"/>
              </a:ext>
            </a:extLst>
          </p:cNvPr>
          <p:cNvSpPr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3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如有設定或操作上的問題，歡迎隨時與威志雲端聯繫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0D6BF747-47CE-F39F-3D0E-EDE471731CC5}"/>
              </a:ext>
            </a:extLst>
          </p:cNvPr>
          <p:cNvSpPr/>
          <p:nvPr/>
        </p:nvSpPr>
        <p:spPr>
          <a:xfrm>
            <a:off x="5364328" y="457200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1F8F86"/>
          </a:solidFill>
          <a:ln>
            <a:solidFill>
              <a:srgbClr val="1F8F86"/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AB49B4C6-D490-F6C5-121C-0841A0C4336B}"/>
              </a:ext>
            </a:extLst>
          </p:cNvPr>
          <p:cNvSpPr/>
          <p:nvPr/>
        </p:nvSpPr>
        <p:spPr>
          <a:xfrm>
            <a:off x="5364328" y="45720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威志雲端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01331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1338</TotalTime>
  <Words>912</Words>
  <Application>Microsoft Office PowerPoint</Application>
  <PresentationFormat>寬螢幕</PresentationFormat>
  <Paragraphs>213</Paragraphs>
  <Slides>14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微軟正黑體</vt:lpstr>
      <vt:lpstr>Arial</vt:lpstr>
      <vt:lpstr>Calibri</vt:lpstr>
      <vt:lpstr>Courier New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NANA NIU</dc:creator>
  <cp:lastModifiedBy>NANA NIU</cp:lastModifiedBy>
  <cp:revision>13</cp:revision>
  <dcterms:created xsi:type="dcterms:W3CDTF">2026-07-07T09:46:49Z</dcterms:created>
  <dcterms:modified xsi:type="dcterms:W3CDTF">2026-07-21T02:26:04Z</dcterms:modified>
</cp:coreProperties>
</file>